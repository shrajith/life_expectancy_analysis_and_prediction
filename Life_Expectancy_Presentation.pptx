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86" r:id="rId2"/>
    <p:sldId id="256"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238" autoAdjust="0"/>
  </p:normalViewPr>
  <p:slideViewPr>
    <p:cSldViewPr>
      <p:cViewPr>
        <p:scale>
          <a:sx n="70" d="100"/>
          <a:sy n="70" d="100"/>
        </p:scale>
        <p:origin x="-1134" y="-72"/>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422BA1F-7205-48A9-A20D-C3E4571A56C3}" type="datetimeFigureOut">
              <a:rPr lang="en-IN" smtClean="0"/>
              <a:t>07-04-2026</a:t>
            </a:fld>
            <a:endParaRPr lang="en-IN"/>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0D7A963-7492-48DE-9748-076CDBD84B3B}" type="slidenum">
              <a:rPr lang="en-IN" smtClean="0"/>
              <a:t>‹#›</a:t>
            </a:fld>
            <a:endParaRPr lang="en-IN"/>
          </a:p>
        </p:txBody>
      </p:sp>
    </p:spTree>
    <p:extLst>
      <p:ext uri="{BB962C8B-B14F-4D97-AF65-F5344CB8AC3E}">
        <p14:creationId xmlns:p14="http://schemas.microsoft.com/office/powerpoint/2010/main" val="100119363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A37CB5-3EC2-4F40-A40F-E9E43CA682E7}" type="datetimeFigureOut">
              <a:rPr lang="en-IN" smtClean="0"/>
              <a:t>07-04-2026</a:t>
            </a:fld>
            <a:endParaRPr lang="en-IN"/>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28427B-1F24-4C6B-B447-C6B6D9ABD45C}" type="slidenum">
              <a:rPr lang="en-IN" smtClean="0"/>
              <a:t>‹#›</a:t>
            </a:fld>
            <a:endParaRPr lang="en-IN"/>
          </a:p>
        </p:txBody>
      </p:sp>
    </p:spTree>
    <p:extLst>
      <p:ext uri="{BB962C8B-B14F-4D97-AF65-F5344CB8AC3E}">
        <p14:creationId xmlns:p14="http://schemas.microsoft.com/office/powerpoint/2010/main" val="44719417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0928427B-1F24-4C6B-B447-C6B6D9ABD45C}" type="slidenum">
              <a:rPr lang="en-IN" smtClean="0"/>
              <a:t>2</a:t>
            </a:fld>
            <a:endParaRPr lang="en-IN"/>
          </a:p>
        </p:txBody>
      </p:sp>
    </p:spTree>
    <p:extLst>
      <p:ext uri="{BB962C8B-B14F-4D97-AF65-F5344CB8AC3E}">
        <p14:creationId xmlns:p14="http://schemas.microsoft.com/office/powerpoint/2010/main" val="1167386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7"/>
            <a:ext cx="84201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D951B909-4C00-477F-991C-4E613735C709}" type="datetime1">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AF4A1C-8513-48CB-AFA7-617B2A2B69B2}" type="slidenum">
              <a:rPr lang="en-IN" smtClean="0"/>
              <a:t>‹#›</a:t>
            </a:fld>
            <a:endParaRPr lang="en-IN"/>
          </a:p>
        </p:txBody>
      </p:sp>
    </p:spTree>
    <p:extLst>
      <p:ext uri="{BB962C8B-B14F-4D97-AF65-F5344CB8AC3E}">
        <p14:creationId xmlns:p14="http://schemas.microsoft.com/office/powerpoint/2010/main" val="4158736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0CC996D-3C48-4F42-813E-D91E2CFE6690}" type="datetime1">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AF4A1C-8513-48CB-AFA7-617B2A2B69B2}" type="slidenum">
              <a:rPr lang="en-IN" smtClean="0"/>
              <a:t>‹#›</a:t>
            </a:fld>
            <a:endParaRPr lang="en-IN"/>
          </a:p>
        </p:txBody>
      </p:sp>
    </p:spTree>
    <p:extLst>
      <p:ext uri="{BB962C8B-B14F-4D97-AF65-F5344CB8AC3E}">
        <p14:creationId xmlns:p14="http://schemas.microsoft.com/office/powerpoint/2010/main" val="188422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0"/>
            <a:ext cx="84201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82506" y="2906714"/>
            <a:ext cx="8420100" cy="150018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4D01ECD-A3B6-412F-B210-9ED655777886}" type="datetime1">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AF4A1C-8513-48CB-AFA7-617B2A2B69B2}" type="slidenum">
              <a:rPr lang="en-IN" smtClean="0"/>
              <a:t>‹#›</a:t>
            </a:fld>
            <a:endParaRPr lang="en-IN"/>
          </a:p>
        </p:txBody>
      </p:sp>
    </p:spTree>
    <p:extLst>
      <p:ext uri="{BB962C8B-B14F-4D97-AF65-F5344CB8AC3E}">
        <p14:creationId xmlns:p14="http://schemas.microsoft.com/office/powerpoint/2010/main" val="2069973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7C7D469-FD3C-42EA-84DC-E15CCBF4C74B}" type="datetime1">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AF4A1C-8513-48CB-AFA7-617B2A2B69B2}" type="slidenum">
              <a:rPr lang="en-IN" smtClean="0"/>
              <a:t>‹#›</a:t>
            </a:fld>
            <a:endParaRPr lang="en-IN"/>
          </a:p>
        </p:txBody>
      </p:sp>
    </p:spTree>
    <p:extLst>
      <p:ext uri="{BB962C8B-B14F-4D97-AF65-F5344CB8AC3E}">
        <p14:creationId xmlns:p14="http://schemas.microsoft.com/office/powerpoint/2010/main" val="4288696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95301"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95301"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5032113" y="1535113"/>
            <a:ext cx="4378589"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32113" y="2174875"/>
            <a:ext cx="4378589"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DDDE8E7C-4437-4FC3-90FA-5CA142F0FEC6}" type="datetime1">
              <a:rPr lang="en-IN" smtClean="0"/>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3AF4A1C-8513-48CB-AFA7-617B2A2B69B2}" type="slidenum">
              <a:rPr lang="en-IN" smtClean="0"/>
              <a:t>‹#›</a:t>
            </a:fld>
            <a:endParaRPr lang="en-IN"/>
          </a:p>
        </p:txBody>
      </p:sp>
    </p:spTree>
    <p:extLst>
      <p:ext uri="{BB962C8B-B14F-4D97-AF65-F5344CB8AC3E}">
        <p14:creationId xmlns:p14="http://schemas.microsoft.com/office/powerpoint/2010/main" val="1524116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BC14818E-E437-4200-87EE-68D3621F0875}" type="datetime1">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3AF4A1C-8513-48CB-AFA7-617B2A2B69B2}" type="slidenum">
              <a:rPr lang="en-IN" smtClean="0"/>
              <a:t>‹#›</a:t>
            </a:fld>
            <a:endParaRPr lang="en-IN"/>
          </a:p>
        </p:txBody>
      </p:sp>
    </p:spTree>
    <p:extLst>
      <p:ext uri="{BB962C8B-B14F-4D97-AF65-F5344CB8AC3E}">
        <p14:creationId xmlns:p14="http://schemas.microsoft.com/office/powerpoint/2010/main" val="2619586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4A2563-14DB-46D8-9FF3-2DD57B3D7D2C}" type="datetime1">
              <a:rPr lang="en-IN" smtClean="0"/>
              <a:t>07-04-2026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3AF4A1C-8513-48CB-AFA7-617B2A2B69B2}" type="slidenum">
              <a:rPr lang="en-IN" smtClean="0"/>
              <a:t>‹#›</a:t>
            </a:fld>
            <a:endParaRPr lang="en-IN"/>
          </a:p>
        </p:txBody>
      </p:sp>
    </p:spTree>
    <p:extLst>
      <p:ext uri="{BB962C8B-B14F-4D97-AF65-F5344CB8AC3E}">
        <p14:creationId xmlns:p14="http://schemas.microsoft.com/office/powerpoint/2010/main" val="2873980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2" y="273051"/>
            <a:ext cx="3259006"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872972" y="273051"/>
            <a:ext cx="553773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95302"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EAA87B7-152F-47E8-85E6-EE05F7B8745A}" type="datetime1">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AF4A1C-8513-48CB-AFA7-617B2A2B69B2}" type="slidenum">
              <a:rPr lang="en-IN" smtClean="0"/>
              <a:t>‹#›</a:t>
            </a:fld>
            <a:endParaRPr lang="en-IN"/>
          </a:p>
        </p:txBody>
      </p:sp>
    </p:spTree>
    <p:extLst>
      <p:ext uri="{BB962C8B-B14F-4D97-AF65-F5344CB8AC3E}">
        <p14:creationId xmlns:p14="http://schemas.microsoft.com/office/powerpoint/2010/main" val="1087735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1"/>
            <a:ext cx="59436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941645" y="5367339"/>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232F3A-82BC-4A91-A43E-1032011A1D9F}" type="datetime1">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3AF4A1C-8513-48CB-AFA7-617B2A2B69B2}" type="slidenum">
              <a:rPr lang="en-IN" smtClean="0"/>
              <a:t>‹#›</a:t>
            </a:fld>
            <a:endParaRPr lang="en-IN"/>
          </a:p>
        </p:txBody>
      </p:sp>
    </p:spTree>
    <p:extLst>
      <p:ext uri="{BB962C8B-B14F-4D97-AF65-F5344CB8AC3E}">
        <p14:creationId xmlns:p14="http://schemas.microsoft.com/office/powerpoint/2010/main" val="3369526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59C1794-A011-42AC-A24C-3FCB3007D121}" type="datetime1">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AF4A1C-8513-48CB-AFA7-617B2A2B69B2}" type="slidenum">
              <a:rPr lang="en-IN" smtClean="0"/>
              <a:t>‹#›</a:t>
            </a:fld>
            <a:endParaRPr lang="en-IN"/>
          </a:p>
        </p:txBody>
      </p:sp>
    </p:spTree>
    <p:extLst>
      <p:ext uri="{BB962C8B-B14F-4D97-AF65-F5344CB8AC3E}">
        <p14:creationId xmlns:p14="http://schemas.microsoft.com/office/powerpoint/2010/main" val="486503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274639"/>
            <a:ext cx="2228850" cy="5851524"/>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95300" y="274639"/>
            <a:ext cx="6521450" cy="58515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F6A87A4-A0E2-4860-A826-29AFA38D333F}" type="datetime1">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3AF4A1C-8513-48CB-AFA7-617B2A2B69B2}" type="slidenum">
              <a:rPr lang="en-IN" smtClean="0"/>
              <a:t>‹#›</a:t>
            </a:fld>
            <a:endParaRPr lang="en-IN"/>
          </a:p>
        </p:txBody>
      </p:sp>
    </p:spTree>
    <p:extLst>
      <p:ext uri="{BB962C8B-B14F-4D97-AF65-F5344CB8AC3E}">
        <p14:creationId xmlns:p14="http://schemas.microsoft.com/office/powerpoint/2010/main" val="1080720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95300" y="6356351"/>
            <a:ext cx="2311400" cy="365124"/>
          </a:xfrm>
          <a:prstGeom prst="rect">
            <a:avLst/>
          </a:prstGeom>
        </p:spPr>
        <p:txBody>
          <a:bodyPr vert="horz" lIns="91440" tIns="45720" rIns="91440" bIns="45720" rtlCol="0" anchor="ctr"/>
          <a:lstStyle>
            <a:lvl1pPr algn="l">
              <a:defRPr sz="1200">
                <a:solidFill>
                  <a:schemeClr val="tx1">
                    <a:tint val="75000"/>
                  </a:schemeClr>
                </a:solidFill>
              </a:defRPr>
            </a:lvl1pPr>
          </a:lstStyle>
          <a:p>
            <a:fld id="{6690BE04-BC05-44C4-84A5-E7C655A0D27E}" type="datetime1">
              <a:rPr lang="en-IN" smtClean="0"/>
              <a:t>07-04-2026</a:t>
            </a:fld>
            <a:endParaRPr lang="en-IN"/>
          </a:p>
        </p:txBody>
      </p:sp>
      <p:sp>
        <p:nvSpPr>
          <p:cNvPr id="5" name="Footer Placeholder 4"/>
          <p:cNvSpPr>
            <a:spLocks noGrp="1"/>
          </p:cNvSpPr>
          <p:nvPr>
            <p:ph type="ftr" sz="quarter" idx="3"/>
          </p:nvPr>
        </p:nvSpPr>
        <p:spPr>
          <a:xfrm>
            <a:off x="3384550" y="6356351"/>
            <a:ext cx="3136900" cy="36512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7099300" y="6356351"/>
            <a:ext cx="2311400" cy="365124"/>
          </a:xfrm>
          <a:prstGeom prst="rect">
            <a:avLst/>
          </a:prstGeom>
        </p:spPr>
        <p:txBody>
          <a:bodyPr vert="horz" lIns="91440" tIns="45720" rIns="91440" bIns="45720" rtlCol="0" anchor="ctr"/>
          <a:lstStyle>
            <a:lvl1pPr algn="r">
              <a:defRPr sz="1200">
                <a:solidFill>
                  <a:schemeClr val="tx1">
                    <a:tint val="75000"/>
                  </a:schemeClr>
                </a:solidFill>
              </a:defRPr>
            </a:lvl1pPr>
          </a:lstStyle>
          <a:p>
            <a:fld id="{B3AF4A1C-8513-48CB-AFA7-617B2A2B69B2}" type="slidenum">
              <a:rPr lang="en-IN" smtClean="0"/>
              <a:t>‹#›</a:t>
            </a:fld>
            <a:endParaRPr lang="en-IN"/>
          </a:p>
        </p:txBody>
      </p:sp>
    </p:spTree>
    <p:extLst>
      <p:ext uri="{BB962C8B-B14F-4D97-AF65-F5344CB8AC3E}">
        <p14:creationId xmlns:p14="http://schemas.microsoft.com/office/powerpoint/2010/main" val="4297147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1997968"/>
            <a:ext cx="8915400" cy="1143000"/>
          </a:xfrm>
        </p:spPr>
        <p:txBody>
          <a:bodyPr>
            <a:normAutofit fontScale="90000"/>
          </a:bodyPr>
          <a:lstStyle/>
          <a:p>
            <a:r>
              <a:rPr lang="en-US" sz="4900" b="1" dirty="0"/>
              <a:t>Global Life Expectancy Analysis </a:t>
            </a:r>
            <a:r>
              <a:rPr lang="en-US" b="1" dirty="0" smtClean="0"/>
              <a:t/>
            </a:r>
            <a:br>
              <a:rPr lang="en-US" b="1" dirty="0" smtClean="0"/>
            </a:br>
            <a:r>
              <a:rPr lang="en-US" sz="3100" b="1" dirty="0" smtClean="0"/>
              <a:t>using </a:t>
            </a:r>
            <a:r>
              <a:rPr lang="en-US" sz="3100" b="1" dirty="0"/>
              <a:t>Machine Learning and Power BI</a:t>
            </a:r>
          </a:p>
        </p:txBody>
      </p:sp>
      <p:sp>
        <p:nvSpPr>
          <p:cNvPr id="4" name="Slide Number Placeholder 3"/>
          <p:cNvSpPr>
            <a:spLocks noGrp="1"/>
          </p:cNvSpPr>
          <p:nvPr>
            <p:ph type="sldNum" sz="quarter" idx="12"/>
          </p:nvPr>
        </p:nvSpPr>
        <p:spPr/>
        <p:txBody>
          <a:bodyPr/>
          <a:lstStyle/>
          <a:p>
            <a:fld id="{B3AF4A1C-8513-48CB-AFA7-617B2A2B69B2}" type="slidenum">
              <a:rPr lang="en-IN" smtClean="0"/>
              <a:t>1</a:t>
            </a:fld>
            <a:endParaRPr lang="en-IN"/>
          </a:p>
        </p:txBody>
      </p:sp>
      <p:sp>
        <p:nvSpPr>
          <p:cNvPr id="5" name="Rectangle 4"/>
          <p:cNvSpPr/>
          <p:nvPr/>
        </p:nvSpPr>
        <p:spPr>
          <a:xfrm>
            <a:off x="584515" y="238492"/>
            <a:ext cx="8684965"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56787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2703750" y="385433"/>
            <a:ext cx="4446494" cy="400110"/>
          </a:xfrm>
          <a:prstGeom prst="rect">
            <a:avLst/>
          </a:prstGeom>
          <a:noFill/>
        </p:spPr>
        <p:txBody>
          <a:bodyPr wrap="square" rtlCol="0">
            <a:spAutoFit/>
          </a:bodyPr>
          <a:lstStyle/>
          <a:p>
            <a:r>
              <a:rPr lang="en-IN" sz="2000" b="1" dirty="0">
                <a:latin typeface="Times New Roman" pitchFamily="18" charset="0"/>
                <a:cs typeface="Times New Roman" pitchFamily="18" charset="0"/>
              </a:rPr>
              <a:t>CONTENTS / </a:t>
            </a:r>
            <a:r>
              <a:rPr lang="en-IN" sz="2000" b="1" dirty="0" smtClean="0">
                <a:latin typeface="Times New Roman" pitchFamily="18" charset="0"/>
                <a:cs typeface="Times New Roman" pitchFamily="18" charset="0"/>
              </a:rPr>
              <a:t>AGENDA</a:t>
            </a:r>
            <a:endParaRPr lang="en-IN" sz="2000" dirty="0">
              <a:latin typeface="Times New Roman" pitchFamily="18" charset="0"/>
              <a:cs typeface="Times New Roman" pitchFamily="18" charset="0"/>
            </a:endParaRPr>
          </a:p>
        </p:txBody>
      </p:sp>
      <p:sp>
        <p:nvSpPr>
          <p:cNvPr id="8" name="Rectangle 7"/>
          <p:cNvSpPr/>
          <p:nvPr/>
        </p:nvSpPr>
        <p:spPr>
          <a:xfrm>
            <a:off x="896550" y="838718"/>
            <a:ext cx="6942771" cy="4893647"/>
          </a:xfrm>
          <a:prstGeom prst="rect">
            <a:avLst/>
          </a:prstGeom>
        </p:spPr>
        <p:txBody>
          <a:bodyPr wrap="square">
            <a:spAutoFit/>
          </a:bodyPr>
          <a:lstStyle/>
          <a:p>
            <a:pPr>
              <a:lnSpc>
                <a:spcPct val="150000"/>
              </a:lnSpc>
            </a:pPr>
            <a:r>
              <a:rPr lang="en-US" sz="1600" dirty="0">
                <a:latin typeface="Times New Roman" pitchFamily="18" charset="0"/>
                <a:cs typeface="Times New Roman" pitchFamily="18" charset="0"/>
              </a:rPr>
              <a:t>1. Executive Summary – Insights &amp; Recommendations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2. Business Problem Overview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3. Objective of the Study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4. Solution Approach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5. Data Dictionary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6. Solution Design &amp; Methodology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7. Data Preprocessing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8. Exploratory Data Analysis (EDA)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9. Model Development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10. Model Evaluation &amp; Performance Evaluation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11. Model Comparison &amp; Selection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12. Dashboard Development &amp; Visualization </a:t>
            </a:r>
            <a:endParaRPr lang="en-US" sz="1600" dirty="0" smtClean="0">
              <a:latin typeface="Times New Roman" pitchFamily="18" charset="0"/>
              <a:cs typeface="Times New Roman" pitchFamily="18" charset="0"/>
            </a:endParaRPr>
          </a:p>
          <a:p>
            <a:pPr>
              <a:lnSpc>
                <a:spcPct val="150000"/>
              </a:lnSpc>
            </a:pPr>
            <a:r>
              <a:rPr lang="en-US" sz="1600" dirty="0">
                <a:latin typeface="Times New Roman" pitchFamily="18" charset="0"/>
                <a:cs typeface="Times New Roman" pitchFamily="18" charset="0"/>
              </a:rPr>
              <a:t>13. Conclusion &amp; Recommendations</a:t>
            </a:r>
            <a:endParaRPr lang="en-IN" sz="1600" dirty="0">
              <a:latin typeface="Times New Roman" pitchFamily="18" charset="0"/>
              <a:cs typeface="Times New Roman" pitchFamily="18" charset="0"/>
            </a:endParaRPr>
          </a:p>
        </p:txBody>
      </p:sp>
      <p:sp>
        <p:nvSpPr>
          <p:cNvPr id="11" name="Rectangle 10"/>
          <p:cNvSpPr/>
          <p:nvPr/>
        </p:nvSpPr>
        <p:spPr>
          <a:xfrm>
            <a:off x="584515" y="238492"/>
            <a:ext cx="8684965"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lide Number Placeholder 1"/>
          <p:cNvSpPr>
            <a:spLocks noGrp="1"/>
          </p:cNvSpPr>
          <p:nvPr>
            <p:ph type="sldNum" sz="quarter" idx="12"/>
          </p:nvPr>
        </p:nvSpPr>
        <p:spPr>
          <a:xfrm>
            <a:off x="3793728" y="6237312"/>
            <a:ext cx="2311400" cy="365124"/>
          </a:xfrm>
        </p:spPr>
        <p:txBody>
          <a:bodyPr/>
          <a:lstStyle/>
          <a:p>
            <a:pPr algn="ctr"/>
            <a:fld id="{B3AF4A1C-8513-48CB-AFA7-617B2A2B69B2}" type="slidenum">
              <a:rPr lang="en-IN" sz="1600" b="1" smtClean="0"/>
              <a:pPr algn="ctr"/>
              <a:t>2</a:t>
            </a:fld>
            <a:endParaRPr lang="en-IN" sz="1600" b="1" dirty="0"/>
          </a:p>
        </p:txBody>
      </p:sp>
    </p:spTree>
    <p:extLst>
      <p:ext uri="{BB962C8B-B14F-4D97-AF65-F5344CB8AC3E}">
        <p14:creationId xmlns:p14="http://schemas.microsoft.com/office/powerpoint/2010/main" val="26847379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230504" y="331762"/>
            <a:ext cx="3450688" cy="400110"/>
          </a:xfrm>
          <a:prstGeom prst="rect">
            <a:avLst/>
          </a:prstGeom>
        </p:spPr>
        <p:txBody>
          <a:bodyPr wrap="none">
            <a:spAutoFit/>
          </a:bodyPr>
          <a:lstStyle/>
          <a:p>
            <a:pPr lvl="0" fontAlgn="base">
              <a:spcBef>
                <a:spcPct val="0"/>
              </a:spcBef>
              <a:spcAft>
                <a:spcPct val="0"/>
              </a:spcAft>
            </a:pPr>
            <a:r>
              <a:rPr lang="en-US" sz="2000" b="1" dirty="0">
                <a:latin typeface="Times New Roman" pitchFamily="18" charset="0"/>
                <a:cs typeface="Times New Roman" pitchFamily="18" charset="0"/>
              </a:rPr>
              <a:t>1. EXECUTIVE SUMMARY </a:t>
            </a:r>
          </a:p>
        </p:txBody>
      </p:sp>
      <p:sp>
        <p:nvSpPr>
          <p:cNvPr id="11" name="Rectangle 5"/>
          <p:cNvSpPr>
            <a:spLocks noChangeArrowheads="1"/>
          </p:cNvSpPr>
          <p:nvPr/>
        </p:nvSpPr>
        <p:spPr bwMode="auto">
          <a:xfrm>
            <a:off x="792538" y="836712"/>
            <a:ext cx="8476942" cy="241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r>
              <a:rPr lang="en-US" sz="1400" dirty="0">
                <a:latin typeface="Times New Roman" pitchFamily="18" charset="0"/>
                <a:cs typeface="Times New Roman" pitchFamily="18" charset="0"/>
              </a:rPr>
              <a:t>Life expectancy is a key indicator of a country’s health, economic stability, and development. Countries with better healthcare, higher income levels, and improved education tend to have higher life expectancy, while those facing economic and health challenges show lower </a:t>
            </a:r>
            <a:r>
              <a:rPr lang="en-US" sz="1400" dirty="0" smtClean="0">
                <a:latin typeface="Times New Roman" pitchFamily="18" charset="0"/>
                <a:cs typeface="Times New Roman" pitchFamily="18" charset="0"/>
              </a:rPr>
              <a:t>lifespan.</a:t>
            </a:r>
          </a:p>
          <a:p>
            <a:endParaRPr lang="en-US" sz="1400" dirty="0">
              <a:latin typeface="Times New Roman" pitchFamily="18" charset="0"/>
              <a:cs typeface="Times New Roman" pitchFamily="18" charset="0"/>
            </a:endParaRPr>
          </a:p>
          <a:p>
            <a:r>
              <a:rPr lang="en-US" sz="1400" dirty="0">
                <a:latin typeface="Times New Roman" pitchFamily="18" charset="0"/>
                <a:cs typeface="Times New Roman" pitchFamily="18" charset="0"/>
              </a:rPr>
              <a:t>This project focuses on analyzing global life expectancy data and identifying the major factors influencing it. </a:t>
            </a:r>
          </a:p>
          <a:p>
            <a:r>
              <a:rPr lang="en-US" sz="1400" dirty="0">
                <a:latin typeface="Times New Roman" pitchFamily="18" charset="0"/>
                <a:cs typeface="Times New Roman" pitchFamily="18" charset="0"/>
              </a:rPr>
              <a:t>Data preprocessing and analysis were performed using Python, and a machine learning regression model was developed to predict life expectancy. An interactive Power BI dashboard was also created to visualize trends, comparisons, and relationships between variables</a:t>
            </a:r>
            <a:r>
              <a:rPr lang="en-US" sz="1400" dirty="0" smtClean="0">
                <a:latin typeface="Times New Roman" pitchFamily="18" charset="0"/>
                <a:cs typeface="Times New Roman" pitchFamily="18" charset="0"/>
              </a:rPr>
              <a:t>.</a:t>
            </a:r>
          </a:p>
          <a:p>
            <a:endParaRPr lang="en-US" sz="1400" dirty="0">
              <a:latin typeface="Times New Roman" pitchFamily="18" charset="0"/>
              <a:cs typeface="Times New Roman" pitchFamily="18" charset="0"/>
            </a:endParaRPr>
          </a:p>
          <a:p>
            <a:r>
              <a:rPr lang="en-US" sz="1400" dirty="0">
                <a:latin typeface="Times New Roman" pitchFamily="18" charset="0"/>
                <a:cs typeface="Times New Roman" pitchFamily="18" charset="0"/>
              </a:rPr>
              <a:t>The analysis shows strong relationships between economic, educational, and health factors and life expectancy. The dashboard helps in understanding these patterns clearly and supports data-driven decision-making</a:t>
            </a:r>
            <a:r>
              <a:rPr lang="en-US" sz="1400" dirty="0" smtClean="0">
                <a:latin typeface="Times New Roman" pitchFamily="18" charset="0"/>
                <a:cs typeface="Times New Roman" pitchFamily="18" charset="0"/>
              </a:rPr>
              <a:t>.</a:t>
            </a:r>
            <a:endParaRPr lang="en-US" sz="1400" dirty="0">
              <a:latin typeface="Times New Roman" pitchFamily="18" charset="0"/>
              <a:cs typeface="Times New Roman" pitchFamily="18" charset="0"/>
            </a:endParaRPr>
          </a:p>
        </p:txBody>
      </p:sp>
      <p:sp>
        <p:nvSpPr>
          <p:cNvPr id="12" name="TextBox 11"/>
          <p:cNvSpPr txBox="1"/>
          <p:nvPr/>
        </p:nvSpPr>
        <p:spPr>
          <a:xfrm>
            <a:off x="1104572" y="3645024"/>
            <a:ext cx="8528948" cy="2638992"/>
          </a:xfrm>
          <a:prstGeom prst="rect">
            <a:avLst/>
          </a:prstGeom>
          <a:noFill/>
        </p:spPr>
        <p:txBody>
          <a:bodyPr wrap="square" rtlCol="0">
            <a:spAutoFit/>
          </a:bodyPr>
          <a:lstStyle/>
          <a:p>
            <a:pPr marL="171450" indent="-171450">
              <a:lnSpc>
                <a:spcPct val="150000"/>
              </a:lnSpc>
              <a:buFont typeface="Arial" pitchFamily="34" charset="0"/>
              <a:buChar char="•"/>
            </a:pPr>
            <a:r>
              <a:rPr lang="en-US" sz="1400" dirty="0" smtClean="0">
                <a:latin typeface="Times New Roman" pitchFamily="18" charset="0"/>
                <a:cs typeface="Times New Roman" pitchFamily="18" charset="0"/>
              </a:rPr>
              <a:t>Countries with higher GDP tend to have significantly higher life expectancy </a:t>
            </a:r>
          </a:p>
          <a:p>
            <a:pPr marL="171450" indent="-171450">
              <a:lnSpc>
                <a:spcPct val="150000"/>
              </a:lnSpc>
              <a:buFont typeface="Arial" pitchFamily="34" charset="0"/>
              <a:buChar char="•"/>
            </a:pPr>
            <a:r>
              <a:rPr lang="en-US" sz="1400" dirty="0" smtClean="0">
                <a:latin typeface="Times New Roman" pitchFamily="18" charset="0"/>
                <a:cs typeface="Times New Roman" pitchFamily="18" charset="0"/>
              </a:rPr>
              <a:t>Education (schooling) shows a strong positive relationship with lifespan </a:t>
            </a:r>
          </a:p>
          <a:p>
            <a:pPr marL="171450" indent="-171450">
              <a:lnSpc>
                <a:spcPct val="150000"/>
              </a:lnSpc>
              <a:buFont typeface="Arial" pitchFamily="34" charset="0"/>
              <a:buChar char="•"/>
            </a:pPr>
            <a:r>
              <a:rPr lang="en-US" sz="1400" dirty="0" smtClean="0">
                <a:latin typeface="Times New Roman" pitchFamily="18" charset="0"/>
                <a:cs typeface="Times New Roman" pitchFamily="18" charset="0"/>
              </a:rPr>
              <a:t>Adult mortality has a strong negative impact on life expectancy </a:t>
            </a:r>
          </a:p>
          <a:p>
            <a:pPr marL="171450" indent="-171450">
              <a:lnSpc>
                <a:spcPct val="150000"/>
              </a:lnSpc>
              <a:buFont typeface="Arial" pitchFamily="34" charset="0"/>
              <a:buChar char="•"/>
            </a:pPr>
            <a:r>
              <a:rPr lang="en-US" sz="1400" dirty="0" smtClean="0">
                <a:latin typeface="Times New Roman" pitchFamily="18" charset="0"/>
                <a:cs typeface="Times New Roman" pitchFamily="18" charset="0"/>
              </a:rPr>
              <a:t>Countries with high HIV/AIDS cases show reduced life expectancy </a:t>
            </a:r>
          </a:p>
          <a:p>
            <a:pPr marL="171450" indent="-171450">
              <a:lnSpc>
                <a:spcPct val="150000"/>
              </a:lnSpc>
              <a:buFont typeface="Arial" pitchFamily="34" charset="0"/>
              <a:buChar char="•"/>
            </a:pPr>
            <a:r>
              <a:rPr lang="en-US" sz="1400" dirty="0" smtClean="0">
                <a:latin typeface="Times New Roman" pitchFamily="18" charset="0"/>
                <a:cs typeface="Times New Roman" pitchFamily="18" charset="0"/>
              </a:rPr>
              <a:t>Developed countries consistently outperform developing countries in lifespan </a:t>
            </a:r>
          </a:p>
          <a:p>
            <a:pPr marL="171450" indent="-171450">
              <a:lnSpc>
                <a:spcPct val="150000"/>
              </a:lnSpc>
              <a:buFont typeface="Arial" pitchFamily="34" charset="0"/>
              <a:buChar char="•"/>
            </a:pPr>
            <a:r>
              <a:rPr lang="en-US" sz="1400" dirty="0" smtClean="0">
                <a:latin typeface="Times New Roman" pitchFamily="18" charset="0"/>
                <a:cs typeface="Times New Roman" pitchFamily="18" charset="0"/>
              </a:rPr>
              <a:t>BMI and health indicators influence life expectancy moderately </a:t>
            </a:r>
          </a:p>
          <a:p>
            <a:pPr marL="171450" indent="-171450">
              <a:lnSpc>
                <a:spcPct val="150000"/>
              </a:lnSpc>
              <a:buFont typeface="Arial" pitchFamily="34" charset="0"/>
              <a:buChar char="•"/>
            </a:pPr>
            <a:r>
              <a:rPr lang="en-US" sz="1400" dirty="0" smtClean="0">
                <a:latin typeface="Times New Roman" pitchFamily="18" charset="0"/>
                <a:cs typeface="Times New Roman" pitchFamily="18" charset="0"/>
              </a:rPr>
              <a:t>Vaccination rates (Polio, Diphtheria) are associated with improved life expectancy </a:t>
            </a:r>
          </a:p>
          <a:p>
            <a:pPr marL="171450" indent="-171450">
              <a:lnSpc>
                <a:spcPct val="150000"/>
              </a:lnSpc>
              <a:buFont typeface="Arial" pitchFamily="34" charset="0"/>
              <a:buChar char="•"/>
            </a:pPr>
            <a:r>
              <a:rPr lang="en-US" sz="1400" dirty="0" smtClean="0">
                <a:latin typeface="Times New Roman" pitchFamily="18" charset="0"/>
                <a:cs typeface="Times New Roman" pitchFamily="18" charset="0"/>
              </a:rPr>
              <a:t>Economic and healthcare factors together play the most important role </a:t>
            </a:r>
            <a:endParaRPr lang="en-US" sz="1400" dirty="0">
              <a:latin typeface="Times New Roman" pitchFamily="18" charset="0"/>
              <a:cs typeface="Times New Roman" pitchFamily="18" charset="0"/>
            </a:endParaRPr>
          </a:p>
        </p:txBody>
      </p:sp>
      <p:sp>
        <p:nvSpPr>
          <p:cNvPr id="13" name="TextBox 12"/>
          <p:cNvSpPr txBox="1"/>
          <p:nvPr/>
        </p:nvSpPr>
        <p:spPr>
          <a:xfrm>
            <a:off x="792538" y="3429000"/>
            <a:ext cx="2964329" cy="369332"/>
          </a:xfrm>
          <a:prstGeom prst="rect">
            <a:avLst/>
          </a:prstGeom>
          <a:noFill/>
        </p:spPr>
        <p:txBody>
          <a:bodyPr wrap="square" rtlCol="0">
            <a:spAutoFit/>
          </a:bodyPr>
          <a:lstStyle/>
          <a:p>
            <a:r>
              <a:rPr lang="en-US" b="1" dirty="0" smtClean="0">
                <a:latin typeface="Times New Roman" pitchFamily="18" charset="0"/>
                <a:cs typeface="Times New Roman" pitchFamily="18" charset="0"/>
              </a:rPr>
              <a:t>Key Insights</a:t>
            </a:r>
          </a:p>
        </p:txBody>
      </p:sp>
      <p:sp>
        <p:nvSpPr>
          <p:cNvPr id="14" name="Rectangle 13"/>
          <p:cNvSpPr/>
          <p:nvPr/>
        </p:nvSpPr>
        <p:spPr>
          <a:xfrm>
            <a:off x="584515" y="238492"/>
            <a:ext cx="8684965"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Slide Number Placeholder 1"/>
          <p:cNvSpPr>
            <a:spLocks noGrp="1"/>
          </p:cNvSpPr>
          <p:nvPr>
            <p:ph type="sldNum" sz="quarter" idx="12"/>
          </p:nvPr>
        </p:nvSpPr>
        <p:spPr>
          <a:xfrm>
            <a:off x="3793728" y="6257205"/>
            <a:ext cx="2311400" cy="412155"/>
          </a:xfrm>
        </p:spPr>
        <p:txBody>
          <a:bodyPr/>
          <a:lstStyle/>
          <a:p>
            <a:pPr algn="ctr"/>
            <a:fld id="{B3AF4A1C-8513-48CB-AFA7-617B2A2B69B2}" type="slidenum">
              <a:rPr lang="en-IN" sz="1600" b="1" smtClean="0"/>
              <a:pPr algn="ctr"/>
              <a:t>3</a:t>
            </a:fld>
            <a:endParaRPr lang="en-IN" sz="1600" b="1" dirty="0"/>
          </a:p>
        </p:txBody>
      </p:sp>
    </p:spTree>
    <p:extLst>
      <p:ext uri="{BB962C8B-B14F-4D97-AF65-F5344CB8AC3E}">
        <p14:creationId xmlns:p14="http://schemas.microsoft.com/office/powerpoint/2010/main" val="26298716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3356" y="415746"/>
            <a:ext cx="3276364" cy="400110"/>
          </a:xfrm>
          <a:prstGeom prst="rect">
            <a:avLst/>
          </a:prstGeom>
          <a:noFill/>
        </p:spPr>
        <p:txBody>
          <a:bodyPr wrap="square" rtlCol="0">
            <a:spAutoFit/>
          </a:bodyPr>
          <a:lstStyle/>
          <a:p>
            <a:r>
              <a:rPr lang="en-IN" sz="2000" b="1" dirty="0" smtClean="0">
                <a:latin typeface="Times New Roman" pitchFamily="18" charset="0"/>
                <a:cs typeface="Times New Roman" pitchFamily="18" charset="0"/>
              </a:rPr>
              <a:t>Recommendations</a:t>
            </a:r>
            <a:endParaRPr lang="en-IN" sz="2000" b="1" dirty="0">
              <a:latin typeface="Times New Roman" pitchFamily="18" charset="0"/>
              <a:cs typeface="Times New Roman" pitchFamily="18" charset="0"/>
            </a:endParaRPr>
          </a:p>
        </p:txBody>
      </p:sp>
      <p:sp>
        <p:nvSpPr>
          <p:cNvPr id="5" name="Rectangle 4"/>
          <p:cNvSpPr/>
          <p:nvPr/>
        </p:nvSpPr>
        <p:spPr>
          <a:xfrm>
            <a:off x="584515" y="238492"/>
            <a:ext cx="8684965"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3"/>
          <p:cNvSpPr>
            <a:spLocks noChangeArrowheads="1"/>
          </p:cNvSpPr>
          <p:nvPr/>
        </p:nvSpPr>
        <p:spPr bwMode="auto">
          <a:xfrm>
            <a:off x="1064568" y="1146335"/>
            <a:ext cx="7776864" cy="300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fontAlgn="base">
              <a:lnSpc>
                <a:spcPct val="150000"/>
              </a:lnSpc>
              <a:spcBef>
                <a:spcPct val="0"/>
              </a:spcBef>
              <a:spcAft>
                <a:spcPct val="0"/>
              </a:spcAft>
              <a:buFontTx/>
              <a:buChar char="•"/>
            </a:pPr>
            <a:r>
              <a:rPr lang="en-US" sz="1600" dirty="0" smtClean="0">
                <a:latin typeface="Times New Roman" pitchFamily="18" charset="0"/>
                <a:cs typeface="Times New Roman" pitchFamily="18" charset="0"/>
              </a:rPr>
              <a:t> Increase healthcare investment to reduce mortality and improve life expectancy</a:t>
            </a:r>
          </a:p>
          <a:p>
            <a:pPr fontAlgn="base">
              <a:lnSpc>
                <a:spcPct val="150000"/>
              </a:lnSpc>
              <a:spcBef>
                <a:spcPct val="0"/>
              </a:spcBef>
              <a:spcAft>
                <a:spcPct val="0"/>
              </a:spcAft>
              <a:buFontTx/>
              <a:buChar char="•"/>
            </a:pPr>
            <a:r>
              <a:rPr lang="en-US" sz="1600" dirty="0" smtClean="0">
                <a:latin typeface="Times New Roman" pitchFamily="18" charset="0"/>
                <a:cs typeface="Times New Roman" pitchFamily="18" charset="0"/>
              </a:rPr>
              <a:t> Control infectious diseases like HIV/AIDS to prevent lifespan reduction </a:t>
            </a:r>
          </a:p>
          <a:p>
            <a:pPr fontAlgn="base">
              <a:lnSpc>
                <a:spcPct val="150000"/>
              </a:lnSpc>
              <a:spcBef>
                <a:spcPct val="0"/>
              </a:spcBef>
              <a:spcAft>
                <a:spcPct val="0"/>
              </a:spcAft>
              <a:buFontTx/>
              <a:buChar char="•"/>
            </a:pPr>
            <a:r>
              <a:rPr lang="en-US" sz="1600" dirty="0" smtClean="0">
                <a:latin typeface="Times New Roman" pitchFamily="18" charset="0"/>
                <a:cs typeface="Times New Roman" pitchFamily="18" charset="0"/>
              </a:rPr>
              <a:t> Improve education access to enhance life expectancy </a:t>
            </a:r>
          </a:p>
          <a:p>
            <a:pPr fontAlgn="base">
              <a:lnSpc>
                <a:spcPct val="150000"/>
              </a:lnSpc>
              <a:spcBef>
                <a:spcPct val="0"/>
              </a:spcBef>
              <a:spcAft>
                <a:spcPct val="0"/>
              </a:spcAft>
              <a:buFontTx/>
              <a:buChar char="•"/>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Focus on GDP growth to improve living standards and healthcare</a:t>
            </a:r>
          </a:p>
          <a:p>
            <a:pPr fontAlgn="base">
              <a:lnSpc>
                <a:spcPct val="150000"/>
              </a:lnSpc>
              <a:spcBef>
                <a:spcPct val="0"/>
              </a:spcBef>
              <a:spcAft>
                <a:spcPct val="0"/>
              </a:spcAft>
              <a:buFontTx/>
              <a:buChar char="•"/>
            </a:pPr>
            <a:r>
              <a:rPr lang="en-US" sz="1600" dirty="0" smtClean="0">
                <a:latin typeface="Times New Roman" pitchFamily="18" charset="0"/>
                <a:cs typeface="Times New Roman" pitchFamily="18" charset="0"/>
              </a:rPr>
              <a:t> Reduce infant and adult mortality through public health programs</a:t>
            </a:r>
          </a:p>
          <a:p>
            <a:pPr fontAlgn="base">
              <a:lnSpc>
                <a:spcPct val="150000"/>
              </a:lnSpc>
              <a:spcBef>
                <a:spcPct val="0"/>
              </a:spcBef>
              <a:spcAft>
                <a:spcPct val="0"/>
              </a:spcAft>
              <a:buFontTx/>
              <a:buChar char="•"/>
            </a:pPr>
            <a:r>
              <a:rPr lang="en-US" sz="1600" dirty="0" smtClean="0">
                <a:latin typeface="Times New Roman" pitchFamily="18" charset="0"/>
                <a:cs typeface="Times New Roman" pitchFamily="18" charset="0"/>
              </a:rPr>
              <a:t> Strengthen vaccination programs (Polio, Diphtheria, etc.)</a:t>
            </a:r>
          </a:p>
          <a:p>
            <a:pPr fontAlgn="base">
              <a:lnSpc>
                <a:spcPct val="150000"/>
              </a:lnSpc>
              <a:spcBef>
                <a:spcPct val="0"/>
              </a:spcBef>
              <a:spcAft>
                <a:spcPct val="0"/>
              </a:spcAft>
              <a:buFontTx/>
              <a:buChar char="•"/>
            </a:pPr>
            <a:r>
              <a:rPr lang="en-US" sz="1600" dirty="0" smtClean="0">
                <a:latin typeface="Times New Roman" pitchFamily="18" charset="0"/>
                <a:cs typeface="Times New Roman" pitchFamily="18" charset="0"/>
              </a:rPr>
              <a:t> Promote healthy lifestyle and balanced nutrition</a:t>
            </a:r>
          </a:p>
          <a:p>
            <a:pPr fontAlgn="base">
              <a:lnSpc>
                <a:spcPct val="150000"/>
              </a:lnSpc>
              <a:spcBef>
                <a:spcPct val="0"/>
              </a:spcBef>
              <a:spcAft>
                <a:spcPct val="0"/>
              </a:spcAft>
              <a:buFontTx/>
              <a:buChar char="•"/>
            </a:pPr>
            <a:r>
              <a:rPr lang="en-US" sz="1600" dirty="0" smtClean="0">
                <a:latin typeface="Times New Roman" pitchFamily="18" charset="0"/>
                <a:cs typeface="Times New Roman" pitchFamily="18" charset="0"/>
              </a:rPr>
              <a:t> Use data-driven decision-making for better policy planning</a:t>
            </a:r>
            <a:endParaRPr kumimoji="0" lang="en-US" sz="160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2" name="Slide Number Placeholder 1"/>
          <p:cNvSpPr>
            <a:spLocks noGrp="1"/>
          </p:cNvSpPr>
          <p:nvPr>
            <p:ph type="sldNum" sz="quarter" idx="12"/>
          </p:nvPr>
        </p:nvSpPr>
        <p:spPr>
          <a:xfrm>
            <a:off x="3793728" y="6237312"/>
            <a:ext cx="2311400" cy="365124"/>
          </a:xfrm>
        </p:spPr>
        <p:txBody>
          <a:bodyPr/>
          <a:lstStyle/>
          <a:p>
            <a:pPr algn="ctr"/>
            <a:fld id="{B3AF4A1C-8513-48CB-AFA7-617B2A2B69B2}" type="slidenum">
              <a:rPr lang="en-IN" sz="1600" b="1" smtClean="0"/>
              <a:pPr algn="ctr"/>
              <a:t>4</a:t>
            </a:fld>
            <a:endParaRPr lang="en-IN" sz="1600" b="1"/>
          </a:p>
        </p:txBody>
      </p:sp>
    </p:spTree>
    <p:extLst>
      <p:ext uri="{BB962C8B-B14F-4D97-AF65-F5344CB8AC3E}">
        <p14:creationId xmlns:p14="http://schemas.microsoft.com/office/powerpoint/2010/main" val="31260066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20752" y="444693"/>
            <a:ext cx="4032447" cy="400110"/>
          </a:xfrm>
          <a:prstGeom prst="rect">
            <a:avLst/>
          </a:prstGeom>
          <a:noFill/>
        </p:spPr>
        <p:txBody>
          <a:bodyPr wrap="square" rtlCol="0">
            <a:spAutoFit/>
          </a:bodyPr>
          <a:lstStyle/>
          <a:p>
            <a:pPr algn="ctr"/>
            <a:r>
              <a:rPr lang="en-IN" sz="2000" b="1" dirty="0" smtClean="0">
                <a:solidFill>
                  <a:schemeClr val="accent1">
                    <a:lumMod val="50000"/>
                  </a:schemeClr>
                </a:solidFill>
                <a:latin typeface="Times New Roman" panose="02020603050405020304" pitchFamily="18" charset="0"/>
                <a:cs typeface="Times New Roman" panose="02020603050405020304" pitchFamily="18" charset="0"/>
              </a:rPr>
              <a:t>2. Business Problem Overview</a:t>
            </a:r>
            <a:endParaRPr lang="en-IN" sz="2000" b="1" dirty="0">
              <a:latin typeface="Times New Roman" pitchFamily="18" charset="0"/>
              <a:cs typeface="Times New Roman" pitchFamily="18" charset="0"/>
            </a:endParaRPr>
          </a:p>
        </p:txBody>
      </p:sp>
      <p:sp>
        <p:nvSpPr>
          <p:cNvPr id="5" name="Rectangle 4"/>
          <p:cNvSpPr/>
          <p:nvPr/>
        </p:nvSpPr>
        <p:spPr>
          <a:xfrm>
            <a:off x="584515" y="238492"/>
            <a:ext cx="8684965"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920552" y="1268760"/>
            <a:ext cx="7632848" cy="5016758"/>
          </a:xfrm>
          <a:prstGeom prst="rect">
            <a:avLst/>
          </a:prstGeom>
          <a:noFill/>
        </p:spPr>
        <p:txBody>
          <a:bodyPr wrap="square" rtlCol="0">
            <a:spAutoFit/>
          </a:bodyPr>
          <a:lstStyle/>
          <a:p>
            <a:r>
              <a:rPr lang="en-US" sz="1600" dirty="0">
                <a:latin typeface="Times New Roman" pitchFamily="18" charset="0"/>
                <a:cs typeface="Times New Roman" pitchFamily="18" charset="0"/>
              </a:rPr>
              <a:t>Life expectancy varies significantly across different countries due to differences in economic conditions, healthcare facilities, education levels, and disease prevalence. Countries with strong economies and better healthcare systems tend to have higher life expectancy, while developing countries face challenges such as high mortality rates and limited access to medical facilities</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The main challenge is identifying the key factors that influence life expectancy and understanding how these factors interact with each other. Traditional analysis methods are often time-consuming and do not provide clear insights into complex relationships within the data</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Therefore, there is a need for a data-driven approach that can</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marL="285750" indent="-107950">
              <a:buFont typeface="Arial" pitchFamily="34" charset="0"/>
              <a:buChar char="•"/>
            </a:pPr>
            <a:r>
              <a:rPr lang="en-US" sz="1600" dirty="0">
                <a:latin typeface="Times New Roman" pitchFamily="18" charset="0"/>
                <a:cs typeface="Times New Roman" pitchFamily="18" charset="0"/>
              </a:rPr>
              <a:t>Analyze large-scale global health data efficiently </a:t>
            </a:r>
          </a:p>
          <a:p>
            <a:pPr marL="285750" indent="-107950">
              <a:buFont typeface="Arial" pitchFamily="34" charset="0"/>
              <a:buChar char="•"/>
            </a:pPr>
            <a:r>
              <a:rPr lang="en-US" sz="1600" dirty="0">
                <a:latin typeface="Times New Roman" pitchFamily="18" charset="0"/>
                <a:cs typeface="Times New Roman" pitchFamily="18" charset="0"/>
              </a:rPr>
              <a:t>Identify major factors affecting life expectancy </a:t>
            </a:r>
          </a:p>
          <a:p>
            <a:pPr marL="285750" indent="-107950">
              <a:buFont typeface="Arial" pitchFamily="34" charset="0"/>
              <a:buChar char="•"/>
            </a:pPr>
            <a:r>
              <a:rPr lang="en-US" sz="1600" dirty="0">
                <a:latin typeface="Times New Roman" pitchFamily="18" charset="0"/>
                <a:cs typeface="Times New Roman" pitchFamily="18" charset="0"/>
              </a:rPr>
              <a:t>Understand differences between developed and developing countries </a:t>
            </a:r>
          </a:p>
          <a:p>
            <a:pPr marL="285750" indent="-107950">
              <a:buFont typeface="Arial" pitchFamily="34" charset="0"/>
              <a:buChar char="•"/>
            </a:pPr>
            <a:r>
              <a:rPr lang="en-US" sz="1600" dirty="0">
                <a:latin typeface="Times New Roman" pitchFamily="18" charset="0"/>
                <a:cs typeface="Times New Roman" pitchFamily="18" charset="0"/>
              </a:rPr>
              <a:t>Predict life expectancy using machine learning models </a:t>
            </a:r>
          </a:p>
          <a:p>
            <a:pPr marL="285750" indent="-107950">
              <a:buFont typeface="Arial" pitchFamily="34" charset="0"/>
              <a:buChar char="•"/>
            </a:pPr>
            <a:r>
              <a:rPr lang="en-US" sz="1600" dirty="0">
                <a:latin typeface="Times New Roman" pitchFamily="18" charset="0"/>
                <a:cs typeface="Times New Roman" pitchFamily="18" charset="0"/>
              </a:rPr>
              <a:t>Provide clear insights through visualization for better decision making </a:t>
            </a:r>
          </a:p>
          <a:p>
            <a:pPr marL="285750" indent="-107950">
              <a:buFont typeface="Arial" pitchFamily="34" charset="0"/>
              <a:buChar char="•"/>
            </a:pPr>
            <a:r>
              <a:rPr lang="en-US" sz="1600" dirty="0">
                <a:latin typeface="Times New Roman" pitchFamily="18" charset="0"/>
                <a:cs typeface="Times New Roman" pitchFamily="18" charset="0"/>
              </a:rPr>
              <a:t>This project addresses these challenges using data analytics, machine learning, and an interactive Power BI dashboard</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a:xfrm>
            <a:off x="3793728" y="6237312"/>
            <a:ext cx="2311400" cy="365124"/>
          </a:xfrm>
        </p:spPr>
        <p:txBody>
          <a:bodyPr/>
          <a:lstStyle/>
          <a:p>
            <a:pPr algn="ctr"/>
            <a:fld id="{B3AF4A1C-8513-48CB-AFA7-617B2A2B69B2}" type="slidenum">
              <a:rPr lang="en-IN" sz="1600" b="1" smtClean="0"/>
              <a:pPr algn="ctr"/>
              <a:t>5</a:t>
            </a:fld>
            <a:endParaRPr lang="en-IN" sz="1600" b="1" dirty="0"/>
          </a:p>
        </p:txBody>
      </p:sp>
    </p:spTree>
    <p:extLst>
      <p:ext uri="{BB962C8B-B14F-4D97-AF65-F5344CB8AC3E}">
        <p14:creationId xmlns:p14="http://schemas.microsoft.com/office/powerpoint/2010/main" val="42697853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20752" y="404664"/>
            <a:ext cx="4032447" cy="498663"/>
          </a:xfrm>
          <a:prstGeom prst="rect">
            <a:avLst/>
          </a:prstGeom>
          <a:noFill/>
        </p:spPr>
        <p:txBody>
          <a:bodyPr wrap="square" rtlCol="0">
            <a:spAutoFit/>
          </a:bodyPr>
          <a:lstStyle/>
          <a:p>
            <a:pPr algn="ctr">
              <a:lnSpc>
                <a:spcPct val="150000"/>
              </a:lnSpc>
            </a:pPr>
            <a:r>
              <a:rPr lang="en-US" sz="2000" b="1" dirty="0" smtClean="0">
                <a:latin typeface="Times New Roman" pitchFamily="18" charset="0"/>
                <a:cs typeface="Times New Roman" pitchFamily="18" charset="0"/>
              </a:rPr>
              <a:t>3. Objective of the Study </a:t>
            </a:r>
          </a:p>
        </p:txBody>
      </p:sp>
      <p:sp>
        <p:nvSpPr>
          <p:cNvPr id="5" name="Rectangle 4"/>
          <p:cNvSpPr/>
          <p:nvPr/>
        </p:nvSpPr>
        <p:spPr>
          <a:xfrm>
            <a:off x="584515" y="238492"/>
            <a:ext cx="8684965"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920552" y="1268760"/>
            <a:ext cx="7632848" cy="4524315"/>
          </a:xfrm>
          <a:prstGeom prst="rect">
            <a:avLst/>
          </a:prstGeom>
          <a:noFill/>
        </p:spPr>
        <p:txBody>
          <a:bodyPr wrap="square" rtlCol="0">
            <a:spAutoFit/>
          </a:bodyPr>
          <a:lstStyle/>
          <a:p>
            <a:r>
              <a:rPr lang="en-US" sz="1600" dirty="0">
                <a:latin typeface="Times New Roman" pitchFamily="18" charset="0"/>
                <a:cs typeface="Times New Roman" pitchFamily="18" charset="0"/>
              </a:rPr>
              <a:t>The main objective of this project is to analyze global life expectancy data and identify the key factors that influence it. By using data analytics and machine learning techniques, the study aims to understand how economic, educational, and health-related variables affect life expectancy across different countries</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The project also focuses on building a predictive model and visualizing insights through an interactive dashboard to support better decision-making</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Objectives</a:t>
            </a:r>
            <a:r>
              <a:rPr lang="en-US" sz="1600" b="1" dirty="0" smtClean="0">
                <a:latin typeface="Times New Roman" pitchFamily="18" charset="0"/>
                <a:cs typeface="Times New Roman" pitchFamily="18" charset="0"/>
              </a:rPr>
              <a:t>:</a:t>
            </a:r>
          </a:p>
          <a:p>
            <a:endParaRPr lang="en-US" sz="1600" b="1" dirty="0">
              <a:latin typeface="Times New Roman" pitchFamily="18" charset="0"/>
              <a:cs typeface="Times New Roman" pitchFamily="18" charset="0"/>
            </a:endParaRPr>
          </a:p>
          <a:p>
            <a:pPr marL="285750" indent="-285750">
              <a:buFont typeface="Arial" pitchFamily="34" charset="0"/>
              <a:buChar char="•"/>
            </a:pPr>
            <a:r>
              <a:rPr lang="en-US" sz="1600" dirty="0">
                <a:latin typeface="Times New Roman" pitchFamily="18" charset="0"/>
                <a:cs typeface="Times New Roman" pitchFamily="18" charset="0"/>
              </a:rPr>
              <a:t>To analyze global life expectancy data across countries and years </a:t>
            </a:r>
          </a:p>
          <a:p>
            <a:pPr marL="285750" indent="-285750">
              <a:buFont typeface="Arial" pitchFamily="34" charset="0"/>
              <a:buChar char="•"/>
            </a:pPr>
            <a:r>
              <a:rPr lang="en-US" sz="1600" dirty="0">
                <a:latin typeface="Times New Roman" pitchFamily="18" charset="0"/>
                <a:cs typeface="Times New Roman" pitchFamily="18" charset="0"/>
              </a:rPr>
              <a:t>To identify key factors affecting life expectancy </a:t>
            </a:r>
          </a:p>
          <a:p>
            <a:pPr marL="285750" indent="-285750">
              <a:buFont typeface="Arial" pitchFamily="34" charset="0"/>
              <a:buChar char="•"/>
            </a:pPr>
            <a:r>
              <a:rPr lang="en-US" sz="1600" dirty="0">
                <a:latin typeface="Times New Roman" pitchFamily="18" charset="0"/>
                <a:cs typeface="Times New Roman" pitchFamily="18" charset="0"/>
              </a:rPr>
              <a:t>To study the impact of GDP, education, and health indicators </a:t>
            </a:r>
          </a:p>
          <a:p>
            <a:pPr marL="285750" indent="-285750">
              <a:buFont typeface="Arial" pitchFamily="34" charset="0"/>
              <a:buChar char="•"/>
            </a:pPr>
            <a:r>
              <a:rPr lang="en-US" sz="1600" dirty="0">
                <a:latin typeface="Times New Roman" pitchFamily="18" charset="0"/>
                <a:cs typeface="Times New Roman" pitchFamily="18" charset="0"/>
              </a:rPr>
              <a:t>To preprocess and clean the dataset for analysis </a:t>
            </a:r>
          </a:p>
          <a:p>
            <a:pPr marL="285750" indent="-285750">
              <a:buFont typeface="Arial" pitchFamily="34" charset="0"/>
              <a:buChar char="•"/>
            </a:pPr>
            <a:r>
              <a:rPr lang="en-US" sz="1600" dirty="0">
                <a:latin typeface="Times New Roman" pitchFamily="18" charset="0"/>
                <a:cs typeface="Times New Roman" pitchFamily="18" charset="0"/>
              </a:rPr>
              <a:t>To build a machine learning model to predict life expectancy </a:t>
            </a:r>
          </a:p>
          <a:p>
            <a:pPr marL="285750" indent="-285750">
              <a:buFont typeface="Arial" pitchFamily="34" charset="0"/>
              <a:buChar char="•"/>
            </a:pPr>
            <a:r>
              <a:rPr lang="en-US" sz="1600" dirty="0">
                <a:latin typeface="Times New Roman" pitchFamily="18" charset="0"/>
                <a:cs typeface="Times New Roman" pitchFamily="18" charset="0"/>
              </a:rPr>
              <a:t>To visualize insights using Power BI dashboard </a:t>
            </a:r>
          </a:p>
          <a:p>
            <a:pPr marL="285750" indent="-285750">
              <a:buFont typeface="Arial" pitchFamily="34" charset="0"/>
              <a:buChar char="•"/>
            </a:pPr>
            <a:r>
              <a:rPr lang="en-US" sz="1600" dirty="0">
                <a:latin typeface="Times New Roman" pitchFamily="18" charset="0"/>
                <a:cs typeface="Times New Roman" pitchFamily="18" charset="0"/>
              </a:rPr>
              <a:t>To compare developed and developing countries </a:t>
            </a:r>
          </a:p>
          <a:p>
            <a:pPr marL="285750" indent="-285750">
              <a:buFont typeface="Arial" pitchFamily="34" charset="0"/>
              <a:buChar char="•"/>
            </a:pPr>
            <a:r>
              <a:rPr lang="en-US" sz="1600" dirty="0">
                <a:latin typeface="Times New Roman" pitchFamily="18" charset="0"/>
                <a:cs typeface="Times New Roman" pitchFamily="18" charset="0"/>
              </a:rPr>
              <a:t>To support data-driven decision making</a:t>
            </a:r>
          </a:p>
        </p:txBody>
      </p:sp>
      <p:sp>
        <p:nvSpPr>
          <p:cNvPr id="3" name="Slide Number Placeholder 2"/>
          <p:cNvSpPr>
            <a:spLocks noGrp="1"/>
          </p:cNvSpPr>
          <p:nvPr>
            <p:ph type="sldNum" sz="quarter" idx="12"/>
          </p:nvPr>
        </p:nvSpPr>
        <p:spPr>
          <a:xfrm>
            <a:off x="3797300" y="6204533"/>
            <a:ext cx="2311400" cy="365124"/>
          </a:xfrm>
        </p:spPr>
        <p:txBody>
          <a:bodyPr/>
          <a:lstStyle/>
          <a:p>
            <a:pPr algn="ctr"/>
            <a:fld id="{B3AF4A1C-8513-48CB-AFA7-617B2A2B69B2}" type="slidenum">
              <a:rPr lang="en-IN" sz="1600" b="1" smtClean="0"/>
              <a:pPr algn="ctr"/>
              <a:t>6</a:t>
            </a:fld>
            <a:endParaRPr lang="en-IN" sz="1600" b="1" dirty="0"/>
          </a:p>
        </p:txBody>
      </p:sp>
    </p:spTree>
    <p:extLst>
      <p:ext uri="{BB962C8B-B14F-4D97-AF65-F5344CB8AC3E}">
        <p14:creationId xmlns:p14="http://schemas.microsoft.com/office/powerpoint/2010/main" val="8324788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20752" y="188640"/>
            <a:ext cx="4032447" cy="504625"/>
          </a:xfrm>
          <a:prstGeom prst="rect">
            <a:avLst/>
          </a:prstGeom>
          <a:noFill/>
        </p:spPr>
        <p:txBody>
          <a:bodyPr wrap="square" rtlCol="0">
            <a:spAutoFit/>
          </a:bodyPr>
          <a:lstStyle/>
          <a:p>
            <a:pPr algn="ctr">
              <a:lnSpc>
                <a:spcPct val="150000"/>
              </a:lnSpc>
            </a:pPr>
            <a:r>
              <a:rPr lang="en-IN" sz="2000" b="1" dirty="0"/>
              <a:t>4. SOLUTION APPROACH</a:t>
            </a:r>
            <a:endParaRPr lang="en-US" sz="2000" b="1" dirty="0" smtClean="0">
              <a:latin typeface="Times New Roman" pitchFamily="18" charset="0"/>
              <a:cs typeface="Times New Roman" pitchFamily="18" charset="0"/>
            </a:endParaRPr>
          </a:p>
        </p:txBody>
      </p:sp>
      <p:sp>
        <p:nvSpPr>
          <p:cNvPr id="5" name="Rectangle 4"/>
          <p:cNvSpPr/>
          <p:nvPr/>
        </p:nvSpPr>
        <p:spPr>
          <a:xfrm>
            <a:off x="584515" y="266187"/>
            <a:ext cx="8684965"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920552" y="653207"/>
            <a:ext cx="7632848" cy="5755422"/>
          </a:xfrm>
          <a:prstGeom prst="rect">
            <a:avLst/>
          </a:prstGeom>
          <a:noFill/>
        </p:spPr>
        <p:txBody>
          <a:bodyPr wrap="square" rtlCol="0" anchor="ctr">
            <a:spAutoFit/>
          </a:bodyPr>
          <a:lstStyle/>
          <a:p>
            <a:r>
              <a:rPr lang="en-US" sz="1600" dirty="0">
                <a:latin typeface="Times New Roman" pitchFamily="18" charset="0"/>
                <a:cs typeface="Times New Roman" pitchFamily="18" charset="0"/>
              </a:rPr>
              <a:t>To understand and analyze life expectancy, a set of key questions were considered during the study. These questions help in identifying important patterns, relationships, and factors that influence life expectancy across different countries</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The analysis focuses on examining economic, educational, and health-related variables and understanding their impact using data analytics and machine learning techniques</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r>
              <a:rPr lang="en-US" sz="1600" b="1" dirty="0">
                <a:latin typeface="Times New Roman" pitchFamily="18" charset="0"/>
                <a:cs typeface="Times New Roman" pitchFamily="18" charset="0"/>
              </a:rPr>
              <a:t>The following questions were addressed</a:t>
            </a:r>
            <a:r>
              <a:rPr lang="en-US" sz="1600" b="1" dirty="0" smtClean="0">
                <a:latin typeface="Times New Roman" pitchFamily="18" charset="0"/>
                <a:cs typeface="Times New Roman" pitchFamily="18" charset="0"/>
              </a:rPr>
              <a:t>:</a:t>
            </a:r>
          </a:p>
          <a:p>
            <a:pPr marL="450850" indent="-273050">
              <a:lnSpc>
                <a:spcPct val="150000"/>
              </a:lnSpc>
              <a:buFont typeface="+mj-lt"/>
              <a:buAutoNum type="arabicParenR"/>
            </a:pPr>
            <a:r>
              <a:rPr lang="en-US" sz="1600" dirty="0" smtClean="0">
                <a:latin typeface="Times New Roman" pitchFamily="18" charset="0"/>
                <a:cs typeface="Times New Roman" pitchFamily="18" charset="0"/>
              </a:rPr>
              <a:t> How has life expectancy changed over time across developed-developing countries?</a:t>
            </a:r>
          </a:p>
          <a:p>
            <a:pPr marL="450850" indent="-273050">
              <a:lnSpc>
                <a:spcPct val="150000"/>
              </a:lnSpc>
              <a:buFont typeface="+mj-lt"/>
              <a:buAutoNum type="arabicParenR"/>
            </a:pPr>
            <a:r>
              <a:rPr lang="en-US" sz="1600" dirty="0" smtClean="0">
                <a:latin typeface="Times New Roman" pitchFamily="18" charset="0"/>
                <a:cs typeface="Times New Roman" pitchFamily="18" charset="0"/>
              </a:rPr>
              <a:t> Which 10 countries have the highest life expectancy? </a:t>
            </a:r>
          </a:p>
          <a:p>
            <a:pPr marL="450850" indent="-273050">
              <a:lnSpc>
                <a:spcPct val="150000"/>
              </a:lnSpc>
              <a:buFont typeface="+mj-lt"/>
              <a:buAutoNum type="arabicParenR"/>
            </a:pPr>
            <a:r>
              <a:rPr lang="en-US" sz="1600" dirty="0" smtClean="0">
                <a:latin typeface="Times New Roman" pitchFamily="18" charset="0"/>
                <a:cs typeface="Times New Roman" pitchFamily="18" charset="0"/>
              </a:rPr>
              <a:t> Which 10 countries have the lowest life expectancy?</a:t>
            </a:r>
          </a:p>
          <a:p>
            <a:pPr marL="450850" indent="-273050">
              <a:lnSpc>
                <a:spcPct val="150000"/>
              </a:lnSpc>
              <a:buFont typeface="+mj-lt"/>
              <a:buAutoNum type="arabicParenR"/>
            </a:pPr>
            <a:r>
              <a:rPr lang="en-US" sz="1600" dirty="0" smtClean="0">
                <a:latin typeface="Times New Roman" pitchFamily="18" charset="0"/>
                <a:cs typeface="Times New Roman" pitchFamily="18" charset="0"/>
              </a:rPr>
              <a:t> What is the distribution between developed and developing countries?</a:t>
            </a:r>
          </a:p>
          <a:p>
            <a:pPr marL="450850" indent="-273050">
              <a:lnSpc>
                <a:spcPct val="150000"/>
              </a:lnSpc>
              <a:buFont typeface="+mj-lt"/>
              <a:buAutoNum type="arabicParenR"/>
            </a:pPr>
            <a:r>
              <a:rPr lang="en-US" sz="1600" dirty="0" smtClean="0">
                <a:latin typeface="Times New Roman" pitchFamily="18" charset="0"/>
                <a:cs typeface="Times New Roman" pitchFamily="18" charset="0"/>
              </a:rPr>
              <a:t> Are vaccination rates (Polio and Diphtheria) improving over time?</a:t>
            </a:r>
          </a:p>
          <a:p>
            <a:pPr marL="450850" indent="-273050">
              <a:lnSpc>
                <a:spcPct val="150000"/>
              </a:lnSpc>
              <a:buFont typeface="+mj-lt"/>
              <a:buAutoNum type="arabicParenR"/>
            </a:pPr>
            <a:r>
              <a:rPr lang="en-US" sz="1600" dirty="0" smtClean="0">
                <a:latin typeface="Times New Roman" pitchFamily="18" charset="0"/>
                <a:cs typeface="Times New Roman" pitchFamily="18" charset="0"/>
              </a:rPr>
              <a:t> Does higher GDP lead to higher life expectancy? </a:t>
            </a:r>
          </a:p>
          <a:p>
            <a:pPr marL="450850" indent="-273050">
              <a:lnSpc>
                <a:spcPct val="150000"/>
              </a:lnSpc>
              <a:buFont typeface="+mj-lt"/>
              <a:buAutoNum type="arabicParenR"/>
            </a:pPr>
            <a:r>
              <a:rPr lang="en-US" sz="1600" dirty="0" smtClean="0">
                <a:latin typeface="Times New Roman" pitchFamily="18" charset="0"/>
                <a:cs typeface="Times New Roman" pitchFamily="18" charset="0"/>
              </a:rPr>
              <a:t> How does education (schooling) affect lifespan?</a:t>
            </a:r>
          </a:p>
          <a:p>
            <a:pPr marL="450850" indent="-273050">
              <a:lnSpc>
                <a:spcPct val="150000"/>
              </a:lnSpc>
              <a:buFont typeface="+mj-lt"/>
              <a:buAutoNum type="arabicParenR"/>
            </a:pPr>
            <a:r>
              <a:rPr lang="en-US" sz="1600" dirty="0" smtClean="0">
                <a:latin typeface="Times New Roman" pitchFamily="18" charset="0"/>
                <a:cs typeface="Times New Roman" pitchFamily="18" charset="0"/>
              </a:rPr>
              <a:t> What is the impact of HIV/AIDS on life expectancy and mortality? </a:t>
            </a:r>
          </a:p>
          <a:p>
            <a:pPr marL="450850" indent="-273050">
              <a:lnSpc>
                <a:spcPct val="150000"/>
              </a:lnSpc>
              <a:buFont typeface="+mj-lt"/>
              <a:buAutoNum type="arabicParenR"/>
            </a:pPr>
            <a:r>
              <a:rPr lang="en-US" sz="1600" dirty="0" smtClean="0">
                <a:latin typeface="Times New Roman" pitchFamily="18" charset="0"/>
                <a:cs typeface="Times New Roman" pitchFamily="18" charset="0"/>
              </a:rPr>
              <a:t> Is there a relationship between BMI and life expectancy?</a:t>
            </a:r>
          </a:p>
          <a:p>
            <a:pPr marL="450850" indent="-273050">
              <a:lnSpc>
                <a:spcPct val="150000"/>
              </a:lnSpc>
              <a:buFont typeface="+mj-lt"/>
              <a:buAutoNum type="arabicParenR"/>
            </a:pPr>
            <a:r>
              <a:rPr lang="en-US" sz="1600" dirty="0" smtClean="0">
                <a:latin typeface="Times New Roman" pitchFamily="18" charset="0"/>
                <a:cs typeface="Times New Roman" pitchFamily="18" charset="0"/>
              </a:rPr>
              <a:t> Which group (developed or developing) consumes more alcohol?</a:t>
            </a:r>
            <a:endParaRPr lang="en-US" sz="1600" b="1"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a:xfrm>
            <a:off x="3797300" y="6204533"/>
            <a:ext cx="2311400" cy="365124"/>
          </a:xfrm>
        </p:spPr>
        <p:txBody>
          <a:bodyPr/>
          <a:lstStyle/>
          <a:p>
            <a:pPr algn="ctr"/>
            <a:fld id="{B3AF4A1C-8513-48CB-AFA7-617B2A2B69B2}" type="slidenum">
              <a:rPr lang="en-IN" sz="1600" b="1" smtClean="0"/>
              <a:pPr algn="ctr"/>
              <a:t>7</a:t>
            </a:fld>
            <a:endParaRPr lang="en-IN" sz="1600" b="1" dirty="0"/>
          </a:p>
        </p:txBody>
      </p:sp>
    </p:spTree>
    <p:extLst>
      <p:ext uri="{BB962C8B-B14F-4D97-AF65-F5344CB8AC3E}">
        <p14:creationId xmlns:p14="http://schemas.microsoft.com/office/powerpoint/2010/main" val="18609582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36777" y="188640"/>
            <a:ext cx="4032447" cy="504625"/>
          </a:xfrm>
          <a:prstGeom prst="rect">
            <a:avLst/>
          </a:prstGeom>
          <a:noFill/>
        </p:spPr>
        <p:txBody>
          <a:bodyPr wrap="square" rtlCol="0">
            <a:spAutoFit/>
          </a:bodyPr>
          <a:lstStyle/>
          <a:p>
            <a:pPr algn="ctr">
              <a:lnSpc>
                <a:spcPct val="150000"/>
              </a:lnSpc>
            </a:pPr>
            <a:r>
              <a:rPr lang="en-IN" sz="2000" b="1" dirty="0">
                <a:latin typeface="Times New Roman" pitchFamily="18" charset="0"/>
                <a:cs typeface="Times New Roman" pitchFamily="18" charset="0"/>
              </a:rPr>
              <a:t>5. DATA DICTIONARY</a:t>
            </a:r>
            <a:endParaRPr lang="en-US" sz="2000" b="1" dirty="0" smtClean="0">
              <a:latin typeface="Times New Roman" pitchFamily="18" charset="0"/>
              <a:cs typeface="Times New Roman" pitchFamily="18" charset="0"/>
            </a:endParaRPr>
          </a:p>
        </p:txBody>
      </p:sp>
      <p:sp>
        <p:nvSpPr>
          <p:cNvPr id="5" name="Rectangle 4"/>
          <p:cNvSpPr/>
          <p:nvPr/>
        </p:nvSpPr>
        <p:spPr>
          <a:xfrm>
            <a:off x="584515" y="238492"/>
            <a:ext cx="8684965"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p:cNvSpPr txBox="1"/>
          <p:nvPr/>
        </p:nvSpPr>
        <p:spPr>
          <a:xfrm>
            <a:off x="704528" y="836712"/>
            <a:ext cx="8136904" cy="4832092"/>
          </a:xfrm>
          <a:prstGeom prst="rect">
            <a:avLst/>
          </a:prstGeom>
          <a:noFill/>
        </p:spPr>
        <p:txBody>
          <a:bodyPr wrap="square" rtlCol="0">
            <a:spAutoFit/>
          </a:bodyPr>
          <a:lstStyle/>
          <a:p>
            <a:pPr>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Country</a:t>
            </a:r>
            <a:r>
              <a:rPr lang="en-US" altLang="en-US" sz="1400" dirty="0">
                <a:latin typeface="Times New Roman" pitchFamily="18" charset="0"/>
                <a:cs typeface="Times New Roman" pitchFamily="18" charset="0"/>
              </a:rPr>
              <a:t>: Name of the country for which health and     economic data is recorded</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Year</a:t>
            </a:r>
            <a:r>
              <a:rPr lang="en-US" altLang="en-US" sz="1400" dirty="0">
                <a:latin typeface="Times New Roman" pitchFamily="18" charset="0"/>
                <a:cs typeface="Times New Roman" pitchFamily="18" charset="0"/>
              </a:rPr>
              <a:t>: The year in which the data values were   collected</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Status</a:t>
            </a:r>
            <a:r>
              <a:rPr lang="en-US" altLang="en-US" sz="1400" dirty="0">
                <a:latin typeface="Times New Roman" pitchFamily="18" charset="0"/>
                <a:cs typeface="Times New Roman" pitchFamily="18" charset="0"/>
              </a:rPr>
              <a:t>: Development status of the country (Developing or Developed</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Life</a:t>
            </a: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Expectancy</a:t>
            </a:r>
            <a:r>
              <a:rPr lang="en-US" altLang="en-US" sz="1400" dirty="0">
                <a:latin typeface="Times New Roman" pitchFamily="18" charset="0"/>
                <a:cs typeface="Times New Roman" pitchFamily="18" charset="0"/>
              </a:rPr>
              <a:t>: Average number of years a person is expected to live at birth</a:t>
            </a:r>
            <a:r>
              <a:rPr lang="en-US" altLang="en-US" sz="1400" dirty="0" smtClean="0">
                <a:latin typeface="Times New Roman" pitchFamily="18" charset="0"/>
                <a:cs typeface="Times New Roman" pitchFamily="18" charset="0"/>
              </a:rPr>
              <a:t>.</a:t>
            </a:r>
            <a:endParaRPr lang="en-US" altLang="en-US" sz="1400" b="1" dirty="0">
              <a:latin typeface="Times New Roman" pitchFamily="18" charset="0"/>
              <a:cs typeface="Times New Roman" pitchFamily="18" charset="0"/>
            </a:endParaRPr>
          </a:p>
          <a:p>
            <a:pPr>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Adult</a:t>
            </a: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Mortality</a:t>
            </a:r>
            <a:r>
              <a:rPr lang="en-US" altLang="en-US" sz="1400" dirty="0">
                <a:latin typeface="Times New Roman" pitchFamily="18" charset="0"/>
                <a:cs typeface="Times New Roman" pitchFamily="18" charset="0"/>
              </a:rPr>
              <a:t>: Number of deaths per 1000 population between the ages of 15 and 60</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Infant</a:t>
            </a: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Deaths</a:t>
            </a:r>
            <a:r>
              <a:rPr lang="en-US" altLang="en-US" sz="1400" dirty="0">
                <a:latin typeface="Times New Roman" pitchFamily="18" charset="0"/>
                <a:cs typeface="Times New Roman" pitchFamily="18" charset="0"/>
              </a:rPr>
              <a:t>: Number of infant deaths per 1000 live births</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Alcohol</a:t>
            </a:r>
            <a:r>
              <a:rPr lang="en-US" altLang="en-US" sz="1400" dirty="0">
                <a:latin typeface="Times New Roman" pitchFamily="18" charset="0"/>
                <a:cs typeface="Times New Roman" pitchFamily="18" charset="0"/>
              </a:rPr>
              <a:t>: Average alcohol consumption per capita (in </a:t>
            </a:r>
            <a:r>
              <a:rPr lang="en-US" altLang="en-US" sz="1400" dirty="0" smtClean="0">
                <a:latin typeface="Times New Roman" pitchFamily="18" charset="0"/>
                <a:cs typeface="Times New Roman" pitchFamily="18" charset="0"/>
              </a:rPr>
              <a:t>liters).</a:t>
            </a:r>
            <a:endParaRPr lang="en-US" altLang="en-US" sz="1400" dirty="0">
              <a:latin typeface="Times New Roman" pitchFamily="18" charset="0"/>
              <a:cs typeface="Times New Roman" pitchFamily="18" charset="0"/>
            </a:endParaRPr>
          </a:p>
          <a:p>
            <a:pPr>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Percentage</a:t>
            </a: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Expenditure</a:t>
            </a:r>
            <a:r>
              <a:rPr lang="en-US" altLang="en-US" sz="1400" dirty="0">
                <a:latin typeface="Times New Roman" pitchFamily="18" charset="0"/>
                <a:cs typeface="Times New Roman" pitchFamily="18" charset="0"/>
              </a:rPr>
              <a:t>: Percentage of government expenditure spent on healthcare</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Hepatitis</a:t>
            </a: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B</a:t>
            </a:r>
            <a:r>
              <a:rPr lang="en-US" altLang="en-US" sz="1400" dirty="0">
                <a:latin typeface="Times New Roman" pitchFamily="18" charset="0"/>
                <a:cs typeface="Times New Roman" pitchFamily="18" charset="0"/>
              </a:rPr>
              <a:t>: Percentage of immunization coverage against Hepatitis B</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Measles</a:t>
            </a:r>
            <a:r>
              <a:rPr lang="en-US" altLang="en-US" sz="1400" dirty="0">
                <a:latin typeface="Times New Roman" pitchFamily="18" charset="0"/>
                <a:cs typeface="Times New Roman" pitchFamily="18" charset="0"/>
              </a:rPr>
              <a:t>: Number of reported measles cases in the country</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BMI</a:t>
            </a:r>
            <a:r>
              <a:rPr lang="en-US" altLang="en-US" sz="1400" dirty="0">
                <a:latin typeface="Times New Roman" pitchFamily="18" charset="0"/>
                <a:cs typeface="Times New Roman" pitchFamily="18" charset="0"/>
              </a:rPr>
              <a:t>: Average Body Mass Index of the </a:t>
            </a:r>
            <a:r>
              <a:rPr lang="en-US" altLang="en-US" sz="1400" dirty="0" smtClean="0">
                <a:latin typeface="Times New Roman" pitchFamily="18" charset="0"/>
                <a:cs typeface="Times New Roman" pitchFamily="18" charset="0"/>
              </a:rPr>
              <a:t>population</a:t>
            </a:r>
            <a:endParaRPr lang="en-US" altLang="en-US" sz="1400"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8</a:t>
            </a:fld>
            <a:endParaRPr lang="en-IN" sz="1600" b="1" dirty="0"/>
          </a:p>
        </p:txBody>
      </p:sp>
    </p:spTree>
    <p:extLst>
      <p:ext uri="{BB962C8B-B14F-4D97-AF65-F5344CB8AC3E}">
        <p14:creationId xmlns:p14="http://schemas.microsoft.com/office/powerpoint/2010/main" val="31755477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84515" y="238492"/>
            <a:ext cx="8684965"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9</a:t>
            </a:fld>
            <a:endParaRPr lang="en-IN" sz="1600" b="1" dirty="0"/>
          </a:p>
        </p:txBody>
      </p:sp>
      <p:sp>
        <p:nvSpPr>
          <p:cNvPr id="6" name="TextBox 5"/>
          <p:cNvSpPr txBox="1"/>
          <p:nvPr/>
        </p:nvSpPr>
        <p:spPr>
          <a:xfrm>
            <a:off x="1280592" y="845646"/>
            <a:ext cx="7200800" cy="5262979"/>
          </a:xfrm>
          <a:prstGeom prst="rect">
            <a:avLst/>
          </a:prstGeom>
          <a:noFill/>
        </p:spPr>
        <p:txBody>
          <a:bodyPr wrap="square" rtlCol="0">
            <a:spAutoFit/>
          </a:bodyPr>
          <a:lstStyle/>
          <a:p>
            <a:pPr marL="273050" indent="-273050">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Under-Five</a:t>
            </a: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Deaths</a:t>
            </a:r>
            <a:r>
              <a:rPr lang="en-US" altLang="en-US" sz="1400" dirty="0">
                <a:latin typeface="Times New Roman" pitchFamily="18" charset="0"/>
                <a:cs typeface="Times New Roman" pitchFamily="18" charset="0"/>
              </a:rPr>
              <a:t>: Number of deaths under the age of five per 1000 population</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marL="273050" indent="-273050">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Polio</a:t>
            </a:r>
            <a:r>
              <a:rPr lang="en-US" altLang="en-US" sz="1400" dirty="0">
                <a:latin typeface="Times New Roman" pitchFamily="18" charset="0"/>
                <a:cs typeface="Times New Roman" pitchFamily="18" charset="0"/>
              </a:rPr>
              <a:t>: Percentage of polio immunization coverage</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marL="273050" indent="-273050">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Total</a:t>
            </a: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Expenditure</a:t>
            </a:r>
            <a:r>
              <a:rPr lang="en-US" altLang="en-US" sz="1400" dirty="0">
                <a:latin typeface="Times New Roman" pitchFamily="18" charset="0"/>
                <a:cs typeface="Times New Roman" pitchFamily="18" charset="0"/>
              </a:rPr>
              <a:t>: Total healthcare expenditure as a percentage of GDP</a:t>
            </a:r>
            <a:r>
              <a:rPr lang="en-US" altLang="en-US" sz="1400" dirty="0" smtClean="0">
                <a:latin typeface="Times New Roman" pitchFamily="18" charset="0"/>
                <a:cs typeface="Times New Roman" pitchFamily="18" charset="0"/>
              </a:rPr>
              <a:t>.</a:t>
            </a:r>
            <a:endParaRPr lang="en-US" altLang="en-US" sz="1400" b="1" dirty="0">
              <a:latin typeface="Times New Roman" pitchFamily="18" charset="0"/>
              <a:cs typeface="Times New Roman" pitchFamily="18" charset="0"/>
            </a:endParaRPr>
          </a:p>
          <a:p>
            <a:pPr marL="273050" indent="-273050">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Diphtheria</a:t>
            </a:r>
            <a:r>
              <a:rPr lang="en-US" altLang="en-US" sz="1400" dirty="0">
                <a:latin typeface="Times New Roman" pitchFamily="18" charset="0"/>
                <a:cs typeface="Times New Roman" pitchFamily="18" charset="0"/>
              </a:rPr>
              <a:t>: Percentage of diphtheria immunization coverage</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marL="273050" indent="-273050">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HIV/AIDS</a:t>
            </a:r>
            <a:r>
              <a:rPr lang="en-US" altLang="en-US" sz="1400" dirty="0">
                <a:latin typeface="Times New Roman" pitchFamily="18" charset="0"/>
                <a:cs typeface="Times New Roman" pitchFamily="18" charset="0"/>
              </a:rPr>
              <a:t>: Death rate per 1000 population due to HIV/AIDS</a:t>
            </a:r>
            <a:r>
              <a:rPr lang="en-US" altLang="en-US" sz="1400" dirty="0" smtClean="0">
                <a:latin typeface="Times New Roman" pitchFamily="18" charset="0"/>
                <a:cs typeface="Times New Roman" pitchFamily="18" charset="0"/>
              </a:rPr>
              <a:t>.</a:t>
            </a:r>
            <a:endParaRPr lang="en-US" altLang="en-US" sz="1400" b="1" dirty="0">
              <a:latin typeface="Times New Roman" pitchFamily="18" charset="0"/>
              <a:cs typeface="Times New Roman" pitchFamily="18" charset="0"/>
            </a:endParaRPr>
          </a:p>
          <a:p>
            <a:pPr marL="273050" indent="-273050">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GDP</a:t>
            </a:r>
            <a:r>
              <a:rPr lang="en-US" altLang="en-US" sz="1400" dirty="0">
                <a:latin typeface="Times New Roman" pitchFamily="18" charset="0"/>
                <a:cs typeface="Times New Roman" pitchFamily="18" charset="0"/>
              </a:rPr>
              <a:t>: Gross Domestic Product per capita of the country</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marL="273050" indent="-273050">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Population</a:t>
            </a:r>
            <a:r>
              <a:rPr lang="en-US" altLang="en-US" sz="1400" dirty="0">
                <a:latin typeface="Times New Roman" pitchFamily="18" charset="0"/>
                <a:cs typeface="Times New Roman" pitchFamily="18" charset="0"/>
              </a:rPr>
              <a:t>: Total population of the country</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marL="273050" indent="-273050">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Thinness (1–19 years): </a:t>
            </a:r>
            <a:r>
              <a:rPr lang="en-US" altLang="en-US" sz="1400" dirty="0">
                <a:latin typeface="Times New Roman" pitchFamily="18" charset="0"/>
                <a:cs typeface="Times New Roman" pitchFamily="18" charset="0"/>
              </a:rPr>
              <a:t>Percentage of thinness among children aged 1–19 years</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marL="273050" indent="-273050">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Thinness (5–9 years): </a:t>
            </a:r>
            <a:r>
              <a:rPr lang="en-US" altLang="en-US" sz="1400" dirty="0">
                <a:latin typeface="Times New Roman" pitchFamily="18" charset="0"/>
                <a:cs typeface="Times New Roman" pitchFamily="18" charset="0"/>
              </a:rPr>
              <a:t>Percentage of thinness among children aged 5–9 years</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marL="273050" indent="-273050">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Income</a:t>
            </a: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Composition</a:t>
            </a: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of</a:t>
            </a: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Resources</a:t>
            </a:r>
            <a:r>
              <a:rPr lang="en-US" altLang="en-US" sz="1400" dirty="0">
                <a:latin typeface="Times New Roman" pitchFamily="18" charset="0"/>
                <a:cs typeface="Times New Roman" pitchFamily="18" charset="0"/>
              </a:rPr>
              <a:t>: Index representing income distribution and resource availability</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a:p>
            <a:pPr marL="273050" indent="-273050">
              <a:lnSpc>
                <a:spcPct val="200000"/>
              </a:lnSpc>
              <a:spcBef>
                <a:spcPts val="20"/>
              </a:spcBef>
            </a:pPr>
            <a:r>
              <a:rPr lang="en-US" altLang="en-US" sz="1400" dirty="0">
                <a:latin typeface="Times New Roman" pitchFamily="18" charset="0"/>
                <a:cs typeface="Times New Roman" pitchFamily="18" charset="0"/>
              </a:rPr>
              <a:t>➤ </a:t>
            </a:r>
            <a:r>
              <a:rPr lang="en-US" altLang="en-US" sz="1400" b="1" dirty="0">
                <a:latin typeface="Times New Roman" pitchFamily="18" charset="0"/>
                <a:cs typeface="Times New Roman" pitchFamily="18" charset="0"/>
              </a:rPr>
              <a:t>Schooling</a:t>
            </a:r>
            <a:r>
              <a:rPr lang="en-US" altLang="en-US" sz="1400" dirty="0">
                <a:latin typeface="Times New Roman" pitchFamily="18" charset="0"/>
                <a:cs typeface="Times New Roman" pitchFamily="18" charset="0"/>
              </a:rPr>
              <a:t>: Average number of years of schooling in the country</a:t>
            </a:r>
            <a:r>
              <a:rPr lang="en-US" altLang="en-US" sz="1400" dirty="0" smtClean="0">
                <a:latin typeface="Times New Roman" pitchFamily="18" charset="0"/>
                <a:cs typeface="Times New Roman" pitchFamily="18" charset="0"/>
              </a:rPr>
              <a:t>.</a:t>
            </a:r>
            <a:endParaRPr lang="en-US" altLang="en-US" sz="1400" dirty="0">
              <a:latin typeface="Times New Roman" pitchFamily="18" charset="0"/>
              <a:cs typeface="Times New Roman" pitchFamily="18" charset="0"/>
            </a:endParaRPr>
          </a:p>
        </p:txBody>
      </p:sp>
    </p:spTree>
    <p:extLst>
      <p:ext uri="{BB962C8B-B14F-4D97-AF65-F5344CB8AC3E}">
        <p14:creationId xmlns:p14="http://schemas.microsoft.com/office/powerpoint/2010/main" val="33804133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36777" y="220578"/>
            <a:ext cx="4032447" cy="400110"/>
          </a:xfrm>
          <a:prstGeom prst="rect">
            <a:avLst/>
          </a:prstGeom>
          <a:noFill/>
        </p:spPr>
        <p:txBody>
          <a:bodyPr wrap="square" rtlCol="0">
            <a:spAutoFit/>
          </a:bodyPr>
          <a:lstStyle/>
          <a:p>
            <a:r>
              <a:rPr lang="en-IN" sz="2000" b="1" dirty="0">
                <a:solidFill>
                  <a:schemeClr val="accent1">
                    <a:lumMod val="50000"/>
                  </a:schemeClr>
                </a:solidFill>
                <a:latin typeface="Times New Roman" panose="02020603050405020304" pitchFamily="18" charset="0"/>
                <a:cs typeface="Times New Roman" panose="02020603050405020304" pitchFamily="18" charset="0"/>
              </a:rPr>
              <a:t>6</a:t>
            </a:r>
            <a:r>
              <a:rPr lang="en-IN" sz="2000" b="1" dirty="0" smtClean="0">
                <a:solidFill>
                  <a:schemeClr val="accent1">
                    <a:lumMod val="50000"/>
                  </a:schemeClr>
                </a:solidFill>
                <a:latin typeface="Times New Roman" panose="02020603050405020304" pitchFamily="18" charset="0"/>
                <a:cs typeface="Times New Roman" panose="02020603050405020304" pitchFamily="18" charset="0"/>
              </a:rPr>
              <a:t>. Solution </a:t>
            </a:r>
            <a:r>
              <a:rPr lang="en-IN" sz="2000" b="1" dirty="0">
                <a:solidFill>
                  <a:schemeClr val="accent1">
                    <a:lumMod val="50000"/>
                  </a:schemeClr>
                </a:solidFill>
                <a:latin typeface="Times New Roman" panose="02020603050405020304" pitchFamily="18" charset="0"/>
                <a:cs typeface="Times New Roman" panose="02020603050405020304" pitchFamily="18" charset="0"/>
              </a:rPr>
              <a:t>Design &amp; Methodology</a:t>
            </a:r>
          </a:p>
        </p:txBody>
      </p:sp>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10</a:t>
            </a:fld>
            <a:endParaRPr lang="en-IN" sz="1600" b="1" dirty="0"/>
          </a:p>
        </p:txBody>
      </p:sp>
      <p:sp>
        <p:nvSpPr>
          <p:cNvPr id="27" name="Rectangle 26"/>
          <p:cNvSpPr/>
          <p:nvPr/>
        </p:nvSpPr>
        <p:spPr>
          <a:xfrm>
            <a:off x="704528" y="860635"/>
            <a:ext cx="1728192" cy="156025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85725" indent="-85725">
              <a:buFont typeface="Arial" pitchFamily="34" charset="0"/>
              <a:buChar char="•"/>
            </a:pPr>
            <a:endParaRPr lang="en-US" sz="1200" dirty="0" smtClean="0">
              <a:solidFill>
                <a:schemeClr val="tx1"/>
              </a:solidFill>
              <a:latin typeface="Times New Roman" pitchFamily="18" charset="0"/>
              <a:cs typeface="Times New Roman" pitchFamily="18" charset="0"/>
            </a:endParaRPr>
          </a:p>
          <a:p>
            <a:pPr marL="171450" indent="-171450">
              <a:buFont typeface="Arial" pitchFamily="34" charset="0"/>
              <a:buChar char="•"/>
            </a:pPr>
            <a:r>
              <a:rPr lang="en-US" sz="1200" dirty="0" smtClean="0">
                <a:solidFill>
                  <a:schemeClr val="tx1"/>
                </a:solidFill>
                <a:latin typeface="Times New Roman" pitchFamily="18" charset="0"/>
                <a:cs typeface="Times New Roman" pitchFamily="18" charset="0"/>
              </a:rPr>
              <a:t>Imported </a:t>
            </a:r>
            <a:r>
              <a:rPr lang="en-US" sz="1200" dirty="0">
                <a:solidFill>
                  <a:schemeClr val="tx1"/>
                </a:solidFill>
                <a:latin typeface="Times New Roman" pitchFamily="18" charset="0"/>
                <a:cs typeface="Times New Roman" pitchFamily="18" charset="0"/>
              </a:rPr>
              <a:t>Life Expectancy dataset into Python </a:t>
            </a:r>
          </a:p>
          <a:p>
            <a:pPr marL="171450" indent="-171450">
              <a:buFont typeface="Arial" pitchFamily="34" charset="0"/>
              <a:buChar char="•"/>
            </a:pPr>
            <a:r>
              <a:rPr lang="en-US" sz="1200" dirty="0">
                <a:solidFill>
                  <a:schemeClr val="tx1"/>
                </a:solidFill>
                <a:latin typeface="Times New Roman" pitchFamily="18" charset="0"/>
                <a:cs typeface="Times New Roman" pitchFamily="18" charset="0"/>
              </a:rPr>
              <a:t>Reviewed structure, columns, and data types</a:t>
            </a:r>
          </a:p>
        </p:txBody>
      </p:sp>
      <p:sp>
        <p:nvSpPr>
          <p:cNvPr id="33" name="Rectangle 32"/>
          <p:cNvSpPr/>
          <p:nvPr/>
        </p:nvSpPr>
        <p:spPr>
          <a:xfrm>
            <a:off x="2828764" y="848673"/>
            <a:ext cx="1656184" cy="156025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171450" indent="-171450">
              <a:buFont typeface="Arial" pitchFamily="34" charset="0"/>
              <a:buChar char="•"/>
            </a:pPr>
            <a:endParaRPr lang="en-US" sz="1200" dirty="0" smtClean="0">
              <a:solidFill>
                <a:schemeClr val="tx1"/>
              </a:solidFill>
              <a:latin typeface="Times New Roman" pitchFamily="18" charset="0"/>
              <a:cs typeface="Times New Roman" pitchFamily="18" charset="0"/>
            </a:endParaRPr>
          </a:p>
          <a:p>
            <a:pPr marL="171450" indent="-171450">
              <a:buFont typeface="Arial" pitchFamily="34" charset="0"/>
              <a:buChar char="•"/>
            </a:pPr>
            <a:r>
              <a:rPr lang="en-US" sz="1200" dirty="0" smtClean="0">
                <a:solidFill>
                  <a:schemeClr val="tx1"/>
                </a:solidFill>
                <a:latin typeface="Times New Roman" pitchFamily="18" charset="0"/>
                <a:cs typeface="Times New Roman" pitchFamily="18" charset="0"/>
              </a:rPr>
              <a:t>Handled </a:t>
            </a:r>
            <a:r>
              <a:rPr lang="en-US" sz="1200" dirty="0">
                <a:solidFill>
                  <a:schemeClr val="tx1"/>
                </a:solidFill>
                <a:latin typeface="Times New Roman" pitchFamily="18" charset="0"/>
                <a:cs typeface="Times New Roman" pitchFamily="18" charset="0"/>
              </a:rPr>
              <a:t>missing values </a:t>
            </a:r>
          </a:p>
          <a:p>
            <a:pPr marL="171450" indent="-171450">
              <a:buFont typeface="Arial" pitchFamily="34" charset="0"/>
              <a:buChar char="•"/>
            </a:pPr>
            <a:r>
              <a:rPr lang="en-US" sz="1200" dirty="0" smtClean="0">
                <a:solidFill>
                  <a:schemeClr val="tx1"/>
                </a:solidFill>
                <a:latin typeface="Times New Roman" pitchFamily="18" charset="0"/>
                <a:cs typeface="Times New Roman" pitchFamily="18" charset="0"/>
              </a:rPr>
              <a:t>Corrected </a:t>
            </a:r>
            <a:r>
              <a:rPr lang="en-US" sz="1200" dirty="0">
                <a:solidFill>
                  <a:schemeClr val="tx1"/>
                </a:solidFill>
                <a:latin typeface="Times New Roman" pitchFamily="18" charset="0"/>
                <a:cs typeface="Times New Roman" pitchFamily="18" charset="0"/>
              </a:rPr>
              <a:t>data types and inconsistencies</a:t>
            </a:r>
          </a:p>
        </p:txBody>
      </p:sp>
      <p:sp>
        <p:nvSpPr>
          <p:cNvPr id="28" name="TextBox 27"/>
          <p:cNvSpPr txBox="1"/>
          <p:nvPr/>
        </p:nvSpPr>
        <p:spPr>
          <a:xfrm>
            <a:off x="2792760" y="860634"/>
            <a:ext cx="1774197" cy="336118"/>
          </a:xfrm>
          <a:prstGeom prst="rect">
            <a:avLst/>
          </a:prstGeom>
          <a:noFill/>
        </p:spPr>
        <p:txBody>
          <a:bodyPr wrap="square" rtlCol="0">
            <a:spAutoFit/>
          </a:bodyPr>
          <a:lstStyle/>
          <a:p>
            <a:pPr algn="ctr">
              <a:lnSpc>
                <a:spcPct val="150000"/>
              </a:lnSpc>
            </a:pPr>
            <a:r>
              <a:rPr lang="en-US" sz="1200" b="1" dirty="0">
                <a:latin typeface="Times New Roman" pitchFamily="18" charset="0"/>
                <a:cs typeface="Times New Roman" pitchFamily="18" charset="0"/>
              </a:rPr>
              <a:t>DATA CLEANING</a:t>
            </a:r>
          </a:p>
        </p:txBody>
      </p:sp>
      <p:sp>
        <p:nvSpPr>
          <p:cNvPr id="29" name="TextBox 28"/>
          <p:cNvSpPr txBox="1"/>
          <p:nvPr/>
        </p:nvSpPr>
        <p:spPr>
          <a:xfrm>
            <a:off x="632520" y="836712"/>
            <a:ext cx="1995540" cy="336118"/>
          </a:xfrm>
          <a:prstGeom prst="rect">
            <a:avLst/>
          </a:prstGeom>
          <a:noFill/>
        </p:spPr>
        <p:txBody>
          <a:bodyPr wrap="square" rtlCol="0">
            <a:spAutoFit/>
          </a:bodyPr>
          <a:lstStyle/>
          <a:p>
            <a:pPr algn="ctr">
              <a:lnSpc>
                <a:spcPct val="150000"/>
              </a:lnSpc>
            </a:pPr>
            <a:r>
              <a:rPr lang="en-US" sz="1200" b="1" dirty="0">
                <a:latin typeface="Times New Roman" pitchFamily="18" charset="0"/>
                <a:cs typeface="Times New Roman" pitchFamily="18" charset="0"/>
              </a:rPr>
              <a:t>DATA COLLECTION</a:t>
            </a:r>
          </a:p>
        </p:txBody>
      </p:sp>
      <p:sp>
        <p:nvSpPr>
          <p:cNvPr id="36" name="Rectangle 35"/>
          <p:cNvSpPr/>
          <p:nvPr/>
        </p:nvSpPr>
        <p:spPr>
          <a:xfrm>
            <a:off x="4953000" y="860634"/>
            <a:ext cx="1944216" cy="156025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171450" indent="-171450">
              <a:buFont typeface="Arial" pitchFamily="34" charset="0"/>
              <a:buChar char="•"/>
            </a:pPr>
            <a:endParaRPr lang="en-US" sz="1200" dirty="0" smtClean="0">
              <a:solidFill>
                <a:schemeClr val="tx1"/>
              </a:solidFill>
              <a:latin typeface="Times New Roman" pitchFamily="18" charset="0"/>
              <a:cs typeface="Times New Roman" pitchFamily="18" charset="0"/>
            </a:endParaRPr>
          </a:p>
          <a:p>
            <a:pPr marL="171450" indent="-171450">
              <a:buFont typeface="Arial" pitchFamily="34" charset="0"/>
              <a:buChar char="•"/>
            </a:pPr>
            <a:endParaRPr lang="en-US" sz="1200" dirty="0" smtClean="0">
              <a:solidFill>
                <a:schemeClr val="tx1"/>
              </a:solidFill>
              <a:latin typeface="Times New Roman" pitchFamily="18" charset="0"/>
              <a:cs typeface="Times New Roman" pitchFamily="18" charset="0"/>
            </a:endParaRPr>
          </a:p>
          <a:p>
            <a:pPr marL="171450" indent="-171450">
              <a:buFont typeface="Arial" pitchFamily="34" charset="0"/>
              <a:buChar char="•"/>
            </a:pPr>
            <a:r>
              <a:rPr lang="en-US" sz="1200" dirty="0" smtClean="0">
                <a:solidFill>
                  <a:schemeClr val="tx1"/>
                </a:solidFill>
                <a:latin typeface="Times New Roman" pitchFamily="18" charset="0"/>
                <a:cs typeface="Times New Roman" pitchFamily="18" charset="0"/>
              </a:rPr>
              <a:t>Encoded </a:t>
            </a:r>
            <a:r>
              <a:rPr lang="en-US" sz="1200" dirty="0">
                <a:solidFill>
                  <a:schemeClr val="tx1"/>
                </a:solidFill>
                <a:latin typeface="Times New Roman" pitchFamily="18" charset="0"/>
                <a:cs typeface="Times New Roman" pitchFamily="18" charset="0"/>
              </a:rPr>
              <a:t>categorical variables </a:t>
            </a:r>
            <a:r>
              <a:rPr lang="en-US" sz="1200" dirty="0" smtClean="0">
                <a:solidFill>
                  <a:schemeClr val="tx1"/>
                </a:solidFill>
                <a:latin typeface="Times New Roman" pitchFamily="18" charset="0"/>
                <a:cs typeface="Times New Roman" pitchFamily="18" charset="0"/>
              </a:rPr>
              <a:t> </a:t>
            </a:r>
            <a:endParaRPr lang="en-US" sz="1200" dirty="0">
              <a:solidFill>
                <a:schemeClr val="tx1"/>
              </a:solidFill>
              <a:latin typeface="Times New Roman" pitchFamily="18" charset="0"/>
              <a:cs typeface="Times New Roman" pitchFamily="18" charset="0"/>
            </a:endParaRPr>
          </a:p>
          <a:p>
            <a:pPr marL="171450" indent="-171450">
              <a:buFont typeface="Arial" pitchFamily="34" charset="0"/>
              <a:buChar char="•"/>
            </a:pPr>
            <a:r>
              <a:rPr lang="en-US" sz="1200" dirty="0">
                <a:solidFill>
                  <a:schemeClr val="tx1"/>
                </a:solidFill>
                <a:latin typeface="Times New Roman" pitchFamily="18" charset="0"/>
                <a:cs typeface="Times New Roman" pitchFamily="18" charset="0"/>
              </a:rPr>
              <a:t>Selected important features </a:t>
            </a:r>
          </a:p>
        </p:txBody>
      </p:sp>
      <p:sp>
        <p:nvSpPr>
          <p:cNvPr id="37" name="TextBox 36"/>
          <p:cNvSpPr txBox="1"/>
          <p:nvPr/>
        </p:nvSpPr>
        <p:spPr>
          <a:xfrm>
            <a:off x="4808984" y="973357"/>
            <a:ext cx="2232248" cy="276999"/>
          </a:xfrm>
          <a:prstGeom prst="rect">
            <a:avLst/>
          </a:prstGeom>
          <a:noFill/>
        </p:spPr>
        <p:txBody>
          <a:bodyPr wrap="square" rtlCol="0">
            <a:spAutoFit/>
          </a:bodyPr>
          <a:lstStyle/>
          <a:p>
            <a:pPr algn="ctr"/>
            <a:r>
              <a:rPr lang="en-US" sz="1200" b="1" dirty="0">
                <a:latin typeface="Times New Roman" pitchFamily="18" charset="0"/>
                <a:cs typeface="Times New Roman" pitchFamily="18" charset="0"/>
              </a:rPr>
              <a:t>FEATURE ENGINEERING </a:t>
            </a:r>
          </a:p>
        </p:txBody>
      </p:sp>
      <p:sp>
        <p:nvSpPr>
          <p:cNvPr id="41" name="Rectangle 40"/>
          <p:cNvSpPr/>
          <p:nvPr/>
        </p:nvSpPr>
        <p:spPr>
          <a:xfrm>
            <a:off x="920552" y="3284984"/>
            <a:ext cx="2206586" cy="172819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85725" indent="-85725">
              <a:buFont typeface="Arial" pitchFamily="34" charset="0"/>
              <a:buChar char="•"/>
            </a:pPr>
            <a:endParaRPr lang="en-US" sz="1200" dirty="0" smtClean="0">
              <a:solidFill>
                <a:schemeClr val="tx1"/>
              </a:solidFill>
              <a:latin typeface="Times New Roman" pitchFamily="18" charset="0"/>
              <a:cs typeface="Times New Roman" pitchFamily="18" charset="0"/>
            </a:endParaRPr>
          </a:p>
          <a:p>
            <a:pPr marL="85725" indent="-85725">
              <a:buFont typeface="Arial" pitchFamily="34" charset="0"/>
              <a:buChar char="•"/>
            </a:pPr>
            <a:r>
              <a:rPr lang="en-US" sz="1200" dirty="0" smtClean="0">
                <a:solidFill>
                  <a:schemeClr val="tx1"/>
                </a:solidFill>
                <a:latin typeface="Times New Roman" pitchFamily="18" charset="0"/>
                <a:cs typeface="Times New Roman" pitchFamily="18" charset="0"/>
              </a:rPr>
              <a:t>Evaluated </a:t>
            </a:r>
            <a:r>
              <a:rPr lang="en-US" sz="1200" dirty="0">
                <a:solidFill>
                  <a:schemeClr val="tx1"/>
                </a:solidFill>
                <a:latin typeface="Times New Roman" pitchFamily="18" charset="0"/>
                <a:cs typeface="Times New Roman" pitchFamily="18" charset="0"/>
              </a:rPr>
              <a:t>using performance </a:t>
            </a:r>
            <a:r>
              <a:rPr lang="en-US" sz="1200" dirty="0" smtClean="0">
                <a:solidFill>
                  <a:schemeClr val="tx1"/>
                </a:solidFill>
                <a:latin typeface="Times New Roman" pitchFamily="18" charset="0"/>
                <a:cs typeface="Times New Roman" pitchFamily="18" charset="0"/>
              </a:rPr>
              <a:t> </a:t>
            </a:r>
            <a:endParaRPr lang="en-US" sz="1200" dirty="0">
              <a:solidFill>
                <a:schemeClr val="tx1"/>
              </a:solidFill>
              <a:latin typeface="Times New Roman" pitchFamily="18" charset="0"/>
              <a:cs typeface="Times New Roman" pitchFamily="18" charset="0"/>
            </a:endParaRPr>
          </a:p>
          <a:p>
            <a:pPr marL="85725" indent="-85725">
              <a:buFont typeface="Arial" pitchFamily="34" charset="0"/>
              <a:buChar char="•"/>
            </a:pPr>
            <a:r>
              <a:rPr lang="en-US" sz="1200" dirty="0">
                <a:solidFill>
                  <a:schemeClr val="tx1"/>
                </a:solidFill>
                <a:latin typeface="Times New Roman" pitchFamily="18" charset="0"/>
                <a:cs typeface="Times New Roman" pitchFamily="18" charset="0"/>
              </a:rPr>
              <a:t>Compared predicted vs actual values </a:t>
            </a:r>
          </a:p>
          <a:p>
            <a:pPr marL="85725" indent="-85725">
              <a:buFont typeface="Arial" pitchFamily="34" charset="0"/>
              <a:buChar char="•"/>
            </a:pPr>
            <a:r>
              <a:rPr lang="en-US" sz="1200" dirty="0">
                <a:solidFill>
                  <a:schemeClr val="tx1"/>
                </a:solidFill>
                <a:latin typeface="Times New Roman" pitchFamily="18" charset="0"/>
                <a:cs typeface="Times New Roman" pitchFamily="18" charset="0"/>
              </a:rPr>
              <a:t>Selected best-performing model</a:t>
            </a:r>
          </a:p>
        </p:txBody>
      </p:sp>
      <p:sp>
        <p:nvSpPr>
          <p:cNvPr id="42" name="TextBox 41"/>
          <p:cNvSpPr txBox="1"/>
          <p:nvPr/>
        </p:nvSpPr>
        <p:spPr>
          <a:xfrm>
            <a:off x="1064568" y="3297358"/>
            <a:ext cx="1995540" cy="276999"/>
          </a:xfrm>
          <a:prstGeom prst="rect">
            <a:avLst/>
          </a:prstGeom>
          <a:noFill/>
        </p:spPr>
        <p:txBody>
          <a:bodyPr wrap="square" rtlCol="0">
            <a:spAutoFit/>
          </a:bodyPr>
          <a:lstStyle/>
          <a:p>
            <a:pPr algn="ctr"/>
            <a:r>
              <a:rPr lang="en-US" sz="1200" b="1" dirty="0">
                <a:latin typeface="Times New Roman" pitchFamily="18" charset="0"/>
                <a:cs typeface="Times New Roman" pitchFamily="18" charset="0"/>
              </a:rPr>
              <a:t>MODEL EVALUATION</a:t>
            </a:r>
          </a:p>
        </p:txBody>
      </p:sp>
      <p:sp>
        <p:nvSpPr>
          <p:cNvPr id="43" name="Rectangle 42"/>
          <p:cNvSpPr/>
          <p:nvPr/>
        </p:nvSpPr>
        <p:spPr>
          <a:xfrm>
            <a:off x="3656856" y="3284984"/>
            <a:ext cx="2428621" cy="172819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85725" indent="-85725">
              <a:buFont typeface="Arial" pitchFamily="34" charset="0"/>
              <a:buChar char="•"/>
            </a:pPr>
            <a:endParaRPr lang="en-US" sz="1200" dirty="0" smtClean="0">
              <a:solidFill>
                <a:schemeClr val="tx1"/>
              </a:solidFill>
              <a:latin typeface="Times New Roman" pitchFamily="18" charset="0"/>
              <a:cs typeface="Times New Roman" pitchFamily="18" charset="0"/>
            </a:endParaRPr>
          </a:p>
          <a:p>
            <a:pPr marL="85725" indent="-85725">
              <a:buFont typeface="Arial" pitchFamily="34" charset="0"/>
              <a:buChar char="•"/>
            </a:pPr>
            <a:r>
              <a:rPr lang="en-US" sz="1200" dirty="0" smtClean="0">
                <a:solidFill>
                  <a:schemeClr val="tx1"/>
                </a:solidFill>
                <a:latin typeface="Times New Roman" pitchFamily="18" charset="0"/>
                <a:cs typeface="Times New Roman" pitchFamily="18" charset="0"/>
              </a:rPr>
              <a:t>Exported </a:t>
            </a:r>
            <a:r>
              <a:rPr lang="en-US" sz="1200" dirty="0">
                <a:solidFill>
                  <a:schemeClr val="tx1"/>
                </a:solidFill>
                <a:latin typeface="Times New Roman" pitchFamily="18" charset="0"/>
                <a:cs typeface="Times New Roman" pitchFamily="18" charset="0"/>
              </a:rPr>
              <a:t>cleaned dataset to Power BI </a:t>
            </a:r>
          </a:p>
          <a:p>
            <a:pPr marL="85725" indent="-85725">
              <a:buFont typeface="Arial" pitchFamily="34" charset="0"/>
              <a:buChar char="•"/>
            </a:pPr>
            <a:r>
              <a:rPr lang="en-US" sz="1200" dirty="0">
                <a:solidFill>
                  <a:schemeClr val="tx1"/>
                </a:solidFill>
                <a:latin typeface="Times New Roman" pitchFamily="18" charset="0"/>
                <a:cs typeface="Times New Roman" pitchFamily="18" charset="0"/>
              </a:rPr>
              <a:t>Created interactive dashboard </a:t>
            </a:r>
          </a:p>
          <a:p>
            <a:pPr marL="85725" indent="-85725">
              <a:buFont typeface="Arial" pitchFamily="34" charset="0"/>
              <a:buChar char="•"/>
            </a:pPr>
            <a:r>
              <a:rPr lang="en-US" sz="1200" dirty="0">
                <a:solidFill>
                  <a:schemeClr val="tx1"/>
                </a:solidFill>
                <a:latin typeface="Times New Roman" pitchFamily="18" charset="0"/>
                <a:cs typeface="Times New Roman" pitchFamily="18" charset="0"/>
              </a:rPr>
              <a:t>Visualized trends and relationships</a:t>
            </a:r>
          </a:p>
        </p:txBody>
      </p:sp>
      <p:sp>
        <p:nvSpPr>
          <p:cNvPr id="44" name="TextBox 43"/>
          <p:cNvSpPr txBox="1"/>
          <p:nvPr/>
        </p:nvSpPr>
        <p:spPr>
          <a:xfrm>
            <a:off x="3656856" y="3284984"/>
            <a:ext cx="2500629" cy="276999"/>
          </a:xfrm>
          <a:prstGeom prst="rect">
            <a:avLst/>
          </a:prstGeom>
          <a:noFill/>
        </p:spPr>
        <p:txBody>
          <a:bodyPr wrap="square" rtlCol="0">
            <a:spAutoFit/>
          </a:bodyPr>
          <a:lstStyle/>
          <a:p>
            <a:pPr algn="ctr"/>
            <a:r>
              <a:rPr lang="en-US" sz="1200" b="1" dirty="0">
                <a:latin typeface="Times New Roman" pitchFamily="18" charset="0"/>
                <a:cs typeface="Times New Roman" pitchFamily="18" charset="0"/>
              </a:rPr>
              <a:t>DASHBOARD DEVELOPMENT</a:t>
            </a:r>
          </a:p>
        </p:txBody>
      </p:sp>
      <p:sp>
        <p:nvSpPr>
          <p:cNvPr id="52" name="Rectangle 51"/>
          <p:cNvSpPr/>
          <p:nvPr/>
        </p:nvSpPr>
        <p:spPr>
          <a:xfrm>
            <a:off x="7329264" y="860635"/>
            <a:ext cx="1812687" cy="1560254"/>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1200" dirty="0" smtClean="0">
              <a:solidFill>
                <a:schemeClr val="tx1"/>
              </a:solidFill>
              <a:latin typeface="Times New Roman" pitchFamily="18" charset="0"/>
              <a:cs typeface="Times New Roman" pitchFamily="18" charset="0"/>
            </a:endParaRPr>
          </a:p>
        </p:txBody>
      </p:sp>
      <p:sp>
        <p:nvSpPr>
          <p:cNvPr id="53" name="TextBox 52"/>
          <p:cNvSpPr txBox="1"/>
          <p:nvPr/>
        </p:nvSpPr>
        <p:spPr>
          <a:xfrm>
            <a:off x="7113240" y="952313"/>
            <a:ext cx="2232248" cy="276999"/>
          </a:xfrm>
          <a:prstGeom prst="rect">
            <a:avLst/>
          </a:prstGeom>
          <a:noFill/>
        </p:spPr>
        <p:txBody>
          <a:bodyPr wrap="square" rtlCol="0">
            <a:spAutoFit/>
          </a:bodyPr>
          <a:lstStyle/>
          <a:p>
            <a:pPr algn="ctr"/>
            <a:r>
              <a:rPr lang="en-IN" sz="1200" b="1" dirty="0">
                <a:latin typeface="Times New Roman" pitchFamily="18" charset="0"/>
                <a:cs typeface="Times New Roman" pitchFamily="18" charset="0"/>
              </a:rPr>
              <a:t>MODEL </a:t>
            </a:r>
            <a:r>
              <a:rPr lang="en-IN" sz="1200" b="1" dirty="0" smtClean="0">
                <a:latin typeface="Times New Roman" pitchFamily="18" charset="0"/>
                <a:cs typeface="Times New Roman" pitchFamily="18" charset="0"/>
              </a:rPr>
              <a:t>DEVELOPMENT</a:t>
            </a:r>
            <a:endParaRPr lang="en-IN" sz="1200" b="1" dirty="0">
              <a:latin typeface="Times New Roman" pitchFamily="18" charset="0"/>
              <a:cs typeface="Times New Roman" pitchFamily="18" charset="0"/>
            </a:endParaRPr>
          </a:p>
        </p:txBody>
      </p:sp>
      <p:sp>
        <p:nvSpPr>
          <p:cNvPr id="40" name="TextBox 39"/>
          <p:cNvSpPr txBox="1"/>
          <p:nvPr/>
        </p:nvSpPr>
        <p:spPr>
          <a:xfrm>
            <a:off x="7545289" y="1295472"/>
            <a:ext cx="1742588" cy="369332"/>
          </a:xfrm>
          <a:prstGeom prst="rect">
            <a:avLst/>
          </a:prstGeom>
          <a:noFill/>
        </p:spPr>
        <p:txBody>
          <a:bodyPr wrap="square" rtlCol="0">
            <a:spAutoFit/>
          </a:bodyPr>
          <a:lstStyle/>
          <a:p>
            <a:endParaRPr lang="en-IN" dirty="0"/>
          </a:p>
        </p:txBody>
      </p:sp>
      <p:sp>
        <p:nvSpPr>
          <p:cNvPr id="54" name="Rectangle 6"/>
          <p:cNvSpPr>
            <a:spLocks noChangeArrowheads="1"/>
          </p:cNvSpPr>
          <p:nvPr/>
        </p:nvSpPr>
        <p:spPr bwMode="auto">
          <a:xfrm>
            <a:off x="7460792" y="991761"/>
            <a:ext cx="181268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5725" lvl="0" indent="-85725" fontAlgn="base">
              <a:spcBef>
                <a:spcPct val="0"/>
              </a:spcBef>
              <a:spcAft>
                <a:spcPct val="0"/>
              </a:spcAft>
              <a:buFontTx/>
              <a:buChar char="•"/>
            </a:pPr>
            <a:endParaRPr lang="en-US" sz="1200" dirty="0" smtClean="0">
              <a:latin typeface="Times New Roman" pitchFamily="18" charset="0"/>
              <a:cs typeface="Times New Roman" pitchFamily="18" charset="0"/>
            </a:endParaRPr>
          </a:p>
          <a:p>
            <a:pPr marL="85725" lvl="0" indent="-85725" fontAlgn="base">
              <a:spcBef>
                <a:spcPct val="0"/>
              </a:spcBef>
              <a:spcAft>
                <a:spcPct val="0"/>
              </a:spcAft>
              <a:buFontTx/>
              <a:buChar char="•"/>
            </a:pPr>
            <a:endParaRPr lang="en-US" sz="1200" dirty="0" smtClean="0">
              <a:latin typeface="Times New Roman" pitchFamily="18" charset="0"/>
              <a:cs typeface="Times New Roman" pitchFamily="18" charset="0"/>
            </a:endParaRPr>
          </a:p>
          <a:p>
            <a:pPr marL="85725" lvl="0" indent="-85725" fontAlgn="base">
              <a:spcBef>
                <a:spcPct val="0"/>
              </a:spcBef>
              <a:spcAft>
                <a:spcPct val="0"/>
              </a:spcAft>
              <a:buFontTx/>
              <a:buChar char="•"/>
            </a:pPr>
            <a:r>
              <a:rPr lang="en-US" sz="1200" dirty="0" smtClean="0">
                <a:latin typeface="Times New Roman" pitchFamily="18" charset="0"/>
                <a:cs typeface="Times New Roman" pitchFamily="18" charset="0"/>
              </a:rPr>
              <a:t>Trained </a:t>
            </a:r>
            <a:r>
              <a:rPr lang="en-US" sz="1200" dirty="0">
                <a:latin typeface="Times New Roman" pitchFamily="18" charset="0"/>
                <a:cs typeface="Times New Roman" pitchFamily="18" charset="0"/>
              </a:rPr>
              <a:t>model on processed dataset </a:t>
            </a:r>
          </a:p>
          <a:p>
            <a:pPr marL="85725" lvl="0" indent="-85725" fontAlgn="base">
              <a:spcBef>
                <a:spcPct val="0"/>
              </a:spcBef>
              <a:spcAft>
                <a:spcPct val="0"/>
              </a:spcAft>
              <a:buFontTx/>
              <a:buChar char="•"/>
            </a:pPr>
            <a:r>
              <a:rPr lang="en-US" sz="1200" dirty="0">
                <a:latin typeface="Times New Roman" pitchFamily="18" charset="0"/>
                <a:cs typeface="Times New Roman" pitchFamily="18" charset="0"/>
              </a:rPr>
              <a:t>Predicted life expectancy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7" name="Rectangle 56"/>
          <p:cNvSpPr/>
          <p:nvPr/>
        </p:nvSpPr>
        <p:spPr>
          <a:xfrm>
            <a:off x="6609183" y="3297358"/>
            <a:ext cx="2678693" cy="1715817"/>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marL="85725" indent="-85725">
              <a:buFont typeface="Arial" pitchFamily="34" charset="0"/>
              <a:buChar char="•"/>
            </a:pPr>
            <a:endParaRPr lang="en-US" sz="1200" dirty="0" smtClean="0">
              <a:solidFill>
                <a:schemeClr val="tx1"/>
              </a:solidFill>
              <a:latin typeface="Times New Roman" pitchFamily="18" charset="0"/>
              <a:cs typeface="Times New Roman" pitchFamily="18" charset="0"/>
            </a:endParaRPr>
          </a:p>
          <a:p>
            <a:pPr marL="85725" indent="-85725">
              <a:buFont typeface="Arial" pitchFamily="34" charset="0"/>
              <a:buChar char="•"/>
            </a:pPr>
            <a:r>
              <a:rPr lang="en-US" sz="1200" dirty="0" smtClean="0">
                <a:solidFill>
                  <a:schemeClr val="tx1"/>
                </a:solidFill>
                <a:latin typeface="Times New Roman" pitchFamily="18" charset="0"/>
                <a:cs typeface="Times New Roman" pitchFamily="18" charset="0"/>
              </a:rPr>
              <a:t>Identified </a:t>
            </a:r>
            <a:r>
              <a:rPr lang="en-US" sz="1200" dirty="0">
                <a:solidFill>
                  <a:schemeClr val="tx1"/>
                </a:solidFill>
                <a:latin typeface="Times New Roman" pitchFamily="18" charset="0"/>
                <a:cs typeface="Times New Roman" pitchFamily="18" charset="0"/>
              </a:rPr>
              <a:t>key factors affecting life expectancy </a:t>
            </a:r>
          </a:p>
          <a:p>
            <a:pPr marL="85725" indent="-85725">
              <a:buFont typeface="Arial" pitchFamily="34" charset="0"/>
              <a:buChar char="•"/>
            </a:pPr>
            <a:r>
              <a:rPr lang="en-US" sz="1200" dirty="0">
                <a:solidFill>
                  <a:schemeClr val="tx1"/>
                </a:solidFill>
                <a:latin typeface="Times New Roman" pitchFamily="18" charset="0"/>
                <a:cs typeface="Times New Roman" pitchFamily="18" charset="0"/>
              </a:rPr>
              <a:t>Generated insights from dashboard </a:t>
            </a:r>
          </a:p>
          <a:p>
            <a:pPr marL="85725" indent="-85725">
              <a:buFont typeface="Arial" pitchFamily="34" charset="0"/>
              <a:buChar char="•"/>
            </a:pPr>
            <a:r>
              <a:rPr lang="en-US" sz="1200" dirty="0">
                <a:solidFill>
                  <a:schemeClr val="tx1"/>
                </a:solidFill>
                <a:latin typeface="Times New Roman" pitchFamily="18" charset="0"/>
                <a:cs typeface="Times New Roman" pitchFamily="18" charset="0"/>
              </a:rPr>
              <a:t>Provided </a:t>
            </a:r>
            <a:r>
              <a:rPr lang="en-US" sz="1200" dirty="0" smtClean="0">
                <a:solidFill>
                  <a:schemeClr val="tx1"/>
                </a:solidFill>
                <a:latin typeface="Times New Roman" pitchFamily="18" charset="0"/>
                <a:cs typeface="Times New Roman" pitchFamily="18" charset="0"/>
              </a:rPr>
              <a:t>data-driven recommendations</a:t>
            </a:r>
            <a:endParaRPr lang="en-US" sz="1200" dirty="0">
              <a:solidFill>
                <a:schemeClr val="tx1"/>
              </a:solidFill>
              <a:latin typeface="Times New Roman" pitchFamily="18" charset="0"/>
              <a:cs typeface="Times New Roman" pitchFamily="18" charset="0"/>
            </a:endParaRPr>
          </a:p>
        </p:txBody>
      </p:sp>
      <p:sp>
        <p:nvSpPr>
          <p:cNvPr id="58" name="TextBox 57"/>
          <p:cNvSpPr txBox="1"/>
          <p:nvPr/>
        </p:nvSpPr>
        <p:spPr>
          <a:xfrm>
            <a:off x="6609184" y="3296017"/>
            <a:ext cx="2952328" cy="276999"/>
          </a:xfrm>
          <a:prstGeom prst="rect">
            <a:avLst/>
          </a:prstGeom>
          <a:noFill/>
        </p:spPr>
        <p:txBody>
          <a:bodyPr wrap="square" rtlCol="0">
            <a:spAutoFit/>
          </a:bodyPr>
          <a:lstStyle/>
          <a:p>
            <a:r>
              <a:rPr lang="en-US" sz="1200" b="1" dirty="0">
                <a:latin typeface="Times New Roman" pitchFamily="18" charset="0"/>
                <a:cs typeface="Times New Roman" pitchFamily="18" charset="0"/>
              </a:rPr>
              <a:t>INSIGHTS &amp; RECOMMENDATIONS</a:t>
            </a:r>
          </a:p>
        </p:txBody>
      </p:sp>
      <p:cxnSp>
        <p:nvCxnSpPr>
          <p:cNvPr id="56" name="Straight Arrow Connector 55"/>
          <p:cNvCxnSpPr/>
          <p:nvPr/>
        </p:nvCxnSpPr>
        <p:spPr>
          <a:xfrm flipV="1">
            <a:off x="2446276" y="1628800"/>
            <a:ext cx="396044" cy="1196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4520952" y="1628800"/>
            <a:ext cx="432048"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6897216" y="1628800"/>
            <a:ext cx="432048"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a:endCxn id="57" idx="1"/>
          </p:cNvCxnSpPr>
          <p:nvPr/>
        </p:nvCxnSpPr>
        <p:spPr>
          <a:xfrm flipV="1">
            <a:off x="6085477" y="4155267"/>
            <a:ext cx="523706"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V="1">
            <a:off x="3133150" y="4149080"/>
            <a:ext cx="523706"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35" name="Elbow Connector 1034"/>
          <p:cNvCxnSpPr>
            <a:stCxn id="52" idx="2"/>
            <a:endCxn id="41" idx="0"/>
          </p:cNvCxnSpPr>
          <p:nvPr/>
        </p:nvCxnSpPr>
        <p:spPr>
          <a:xfrm rot="5400000">
            <a:off x="4697680" y="-252945"/>
            <a:ext cx="864095" cy="6211763"/>
          </a:xfrm>
          <a:prstGeom prst="bentConnector3">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16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368824" y="220578"/>
            <a:ext cx="4032447" cy="553998"/>
          </a:xfrm>
          <a:prstGeom prst="rect">
            <a:avLst/>
          </a:prstGeom>
          <a:noFill/>
        </p:spPr>
        <p:txBody>
          <a:bodyPr wrap="square" rtlCol="0">
            <a:spAutoFit/>
          </a:bodyPr>
          <a:lstStyle/>
          <a:p>
            <a:pPr>
              <a:lnSpc>
                <a:spcPct val="150000"/>
              </a:lnSpc>
            </a:pPr>
            <a:r>
              <a:rPr lang="en-US" sz="2000" b="1" dirty="0">
                <a:latin typeface="Times New Roman" pitchFamily="18" charset="0"/>
                <a:cs typeface="Times New Roman" pitchFamily="18" charset="0"/>
              </a:rPr>
              <a:t>7. Data Preprocessing </a:t>
            </a:r>
          </a:p>
        </p:txBody>
      </p:sp>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11</a:t>
            </a:fld>
            <a:endParaRPr lang="en-IN" sz="1600" b="1" dirty="0"/>
          </a:p>
        </p:txBody>
      </p:sp>
      <p:sp>
        <p:nvSpPr>
          <p:cNvPr id="6" name="TextBox 5"/>
          <p:cNvSpPr txBox="1"/>
          <p:nvPr/>
        </p:nvSpPr>
        <p:spPr>
          <a:xfrm>
            <a:off x="920552" y="980728"/>
            <a:ext cx="7992888" cy="5262979"/>
          </a:xfrm>
          <a:prstGeom prst="rect">
            <a:avLst/>
          </a:prstGeom>
          <a:noFill/>
        </p:spPr>
        <p:txBody>
          <a:bodyPr wrap="square" rtlCol="0">
            <a:spAutoFit/>
          </a:bodyPr>
          <a:lstStyle/>
          <a:p>
            <a:pPr>
              <a:lnSpc>
                <a:spcPct val="150000"/>
              </a:lnSpc>
            </a:pPr>
            <a:r>
              <a:rPr lang="en-US" sz="1400" dirty="0">
                <a:latin typeface="Times New Roman" pitchFamily="18" charset="0"/>
                <a:cs typeface="Times New Roman" pitchFamily="18" charset="0"/>
              </a:rPr>
              <a:t>Before building the model, the dataset was carefully prepared to ensure accuracy, consistency, and suitability for machine learning</a:t>
            </a:r>
            <a:r>
              <a:rPr lang="en-US" sz="1400" dirty="0" smtClean="0">
                <a:latin typeface="Times New Roman" pitchFamily="18" charset="0"/>
                <a:cs typeface="Times New Roman" pitchFamily="18" charset="0"/>
              </a:rPr>
              <a:t>.</a:t>
            </a:r>
          </a:p>
          <a:p>
            <a:pPr>
              <a:lnSpc>
                <a:spcPct val="150000"/>
              </a:lnSpc>
            </a:pPr>
            <a:endParaRPr lang="en-US" sz="1400" dirty="0">
              <a:latin typeface="Times New Roman" pitchFamily="18" charset="0"/>
              <a:cs typeface="Times New Roman" pitchFamily="18" charset="0"/>
            </a:endParaRPr>
          </a:p>
          <a:p>
            <a:pPr marL="177800" indent="-177800">
              <a:lnSpc>
                <a:spcPct val="150000"/>
              </a:lnSpc>
            </a:pPr>
            <a:r>
              <a:rPr lang="en-US" sz="1400" dirty="0">
                <a:latin typeface="Times New Roman" pitchFamily="18" charset="0"/>
                <a:cs typeface="Times New Roman" pitchFamily="18" charset="0"/>
              </a:rPr>
              <a:t>• Removed irrelevant and unnecessary columns that were not required for analysis and model building.</a:t>
            </a:r>
          </a:p>
          <a:p>
            <a:pPr marL="177800" indent="-177800">
              <a:lnSpc>
                <a:spcPct val="150000"/>
              </a:lnSpc>
            </a:pPr>
            <a:r>
              <a:rPr lang="en-US" sz="1400" dirty="0">
                <a:latin typeface="Times New Roman" pitchFamily="18" charset="0"/>
                <a:cs typeface="Times New Roman" pitchFamily="18" charset="0"/>
              </a:rPr>
              <a:t>• Verified dataset structure and corrected column names for better consistency and readability.</a:t>
            </a:r>
          </a:p>
          <a:p>
            <a:pPr marL="177800" indent="-177800">
              <a:lnSpc>
                <a:spcPct val="150000"/>
              </a:lnSpc>
            </a:pPr>
            <a:r>
              <a:rPr lang="en-US" sz="1400" dirty="0">
                <a:latin typeface="Times New Roman" pitchFamily="18" charset="0"/>
                <a:cs typeface="Times New Roman" pitchFamily="18" charset="0"/>
              </a:rPr>
              <a:t>• Checked for missing and null values across all features and handled incomplete records to maintain data quality.</a:t>
            </a:r>
          </a:p>
          <a:p>
            <a:pPr marL="177800" indent="-177800">
              <a:lnSpc>
                <a:spcPct val="150000"/>
              </a:lnSpc>
            </a:pPr>
            <a:r>
              <a:rPr lang="en-US" sz="1400" dirty="0">
                <a:latin typeface="Times New Roman" pitchFamily="18" charset="0"/>
                <a:cs typeface="Times New Roman" pitchFamily="18" charset="0"/>
              </a:rPr>
              <a:t>• Converted all attributes into appropriate data types (numeric and categorical formats).</a:t>
            </a:r>
          </a:p>
          <a:p>
            <a:pPr marL="177800" indent="-177800">
              <a:lnSpc>
                <a:spcPct val="150000"/>
              </a:lnSpc>
            </a:pPr>
            <a:r>
              <a:rPr lang="en-US" sz="1400" dirty="0">
                <a:latin typeface="Times New Roman" pitchFamily="18" charset="0"/>
                <a:cs typeface="Times New Roman" pitchFamily="18" charset="0"/>
              </a:rPr>
              <a:t>• Encoded categorical variables into numerical format to make them suitable for machine learning models.</a:t>
            </a:r>
          </a:p>
          <a:p>
            <a:pPr marL="177800" indent="-177800">
              <a:lnSpc>
                <a:spcPct val="150000"/>
              </a:lnSpc>
            </a:pPr>
            <a:r>
              <a:rPr lang="en-US" sz="1400" dirty="0">
                <a:latin typeface="Times New Roman" pitchFamily="18" charset="0"/>
                <a:cs typeface="Times New Roman" pitchFamily="18" charset="0"/>
              </a:rPr>
              <a:t>• Selected important features and separated independent variables (features) and dependent variable (Life Expectancy).</a:t>
            </a:r>
          </a:p>
          <a:p>
            <a:pPr marL="177800" indent="-177800">
              <a:lnSpc>
                <a:spcPct val="150000"/>
              </a:lnSpc>
            </a:pPr>
            <a:r>
              <a:rPr lang="en-US" sz="1400" dirty="0">
                <a:latin typeface="Times New Roman" pitchFamily="18" charset="0"/>
                <a:cs typeface="Times New Roman" pitchFamily="18" charset="0"/>
              </a:rPr>
              <a:t>• Removed duplicate records to ensure each entry is unique and avoid data redundancy.</a:t>
            </a:r>
          </a:p>
          <a:p>
            <a:pPr marL="177800" indent="-177800">
              <a:lnSpc>
                <a:spcPct val="150000"/>
              </a:lnSpc>
            </a:pPr>
            <a:r>
              <a:rPr lang="en-US" sz="1400" dirty="0">
                <a:latin typeface="Times New Roman" pitchFamily="18" charset="0"/>
                <a:cs typeface="Times New Roman" pitchFamily="18" charset="0"/>
              </a:rPr>
              <a:t>• Split the dataset into training and testing sets using an 80:20 ratio.</a:t>
            </a:r>
          </a:p>
          <a:p>
            <a:pPr marL="177800" indent="-177800">
              <a:lnSpc>
                <a:spcPct val="150000"/>
              </a:lnSpc>
            </a:pPr>
            <a:r>
              <a:rPr lang="en-US" sz="1400" dirty="0">
                <a:latin typeface="Times New Roman" pitchFamily="18" charset="0"/>
                <a:cs typeface="Times New Roman" pitchFamily="18" charset="0"/>
              </a:rPr>
              <a:t>• Validated the dataset after preprocessing to ensure correctness and consistency.</a:t>
            </a:r>
          </a:p>
          <a:p>
            <a:pPr marL="177800" indent="-177800">
              <a:lnSpc>
                <a:spcPct val="150000"/>
              </a:lnSpc>
            </a:pPr>
            <a:r>
              <a:rPr lang="en-US" sz="1400" dirty="0">
                <a:latin typeface="Times New Roman" pitchFamily="18" charset="0"/>
                <a:cs typeface="Times New Roman" pitchFamily="18" charset="0"/>
              </a:rPr>
              <a:t>• Prepared the final processed dataset for machine learning model training and evaluation.</a:t>
            </a:r>
          </a:p>
          <a:p>
            <a:pPr marL="177800" indent="-177800">
              <a:lnSpc>
                <a:spcPct val="150000"/>
              </a:lnSpc>
            </a:pPr>
            <a:r>
              <a:rPr lang="en-US" sz="1400" dirty="0">
                <a:latin typeface="Times New Roman" pitchFamily="18" charset="0"/>
                <a:cs typeface="Times New Roman" pitchFamily="18" charset="0"/>
              </a:rPr>
              <a:t>• Exported the cleaned dataset to CSV format for Power BI visualization and dashboard development</a:t>
            </a:r>
            <a:r>
              <a:rPr lang="en-US" sz="1400" dirty="0" smtClean="0">
                <a:latin typeface="Times New Roman" pitchFamily="18" charset="0"/>
                <a:cs typeface="Times New Roman" pitchFamily="18" charset="0"/>
              </a:rPr>
              <a:t>..</a:t>
            </a:r>
            <a:endParaRPr lang="en-US" sz="1400" dirty="0">
              <a:latin typeface="Times New Roman" pitchFamily="18" charset="0"/>
              <a:cs typeface="Times New Roman" pitchFamily="18" charset="0"/>
            </a:endParaRPr>
          </a:p>
        </p:txBody>
      </p:sp>
    </p:spTree>
    <p:extLst>
      <p:ext uri="{BB962C8B-B14F-4D97-AF65-F5344CB8AC3E}">
        <p14:creationId xmlns:p14="http://schemas.microsoft.com/office/powerpoint/2010/main" val="40457058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92760" y="220578"/>
            <a:ext cx="5472608" cy="400110"/>
          </a:xfrm>
          <a:prstGeom prst="rect">
            <a:avLst/>
          </a:prstGeom>
          <a:noFill/>
        </p:spPr>
        <p:txBody>
          <a:bodyPr wrap="square" rtlCol="0">
            <a:spAutoFit/>
          </a:bodyPr>
          <a:lstStyle/>
          <a:p>
            <a:r>
              <a:rPr lang="en-US" sz="2000" b="1" dirty="0" smtClean="0">
                <a:latin typeface="Times New Roman" pitchFamily="18" charset="0"/>
                <a:cs typeface="Times New Roman" pitchFamily="18" charset="0"/>
              </a:rPr>
              <a:t>8</a:t>
            </a:r>
            <a:r>
              <a:rPr lang="en-US" sz="2000" b="1" dirty="0" smtClean="0">
                <a:latin typeface="Times New Roman" pitchFamily="18" charset="0"/>
                <a:cs typeface="Times New Roman" pitchFamily="18" charset="0"/>
              </a:rPr>
              <a:t>. EXPLORATORY </a:t>
            </a:r>
            <a:r>
              <a:rPr lang="en-US" sz="2000" b="1" dirty="0" smtClean="0">
                <a:latin typeface="Times New Roman" pitchFamily="18" charset="0"/>
                <a:cs typeface="Times New Roman" pitchFamily="18" charset="0"/>
              </a:rPr>
              <a:t>DATA ANALYSIS (EDA)</a:t>
            </a:r>
            <a:endParaRPr lang="en-US" sz="2000" b="1" dirty="0">
              <a:latin typeface="Times New Roman" pitchFamily="18" charset="0"/>
              <a:cs typeface="Times New Roman" pitchFamily="18" charset="0"/>
            </a:endParaRPr>
          </a:p>
        </p:txBody>
      </p:sp>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12</a:t>
            </a:fld>
            <a:endParaRPr lang="en-IN" sz="1600" b="1" dirty="0"/>
          </a:p>
        </p:txBody>
      </p:sp>
      <p:sp>
        <p:nvSpPr>
          <p:cNvPr id="6" name="TextBox 5"/>
          <p:cNvSpPr txBox="1"/>
          <p:nvPr/>
        </p:nvSpPr>
        <p:spPr>
          <a:xfrm>
            <a:off x="920552" y="764704"/>
            <a:ext cx="7992888" cy="5570756"/>
          </a:xfrm>
          <a:prstGeom prst="rect">
            <a:avLst/>
          </a:prstGeom>
          <a:noFill/>
        </p:spPr>
        <p:txBody>
          <a:bodyPr wrap="square" rtlCol="0">
            <a:spAutoFit/>
          </a:bodyPr>
          <a:lstStyle/>
          <a:p>
            <a:r>
              <a:rPr lang="en-US" sz="1600" b="1" dirty="0" smtClean="0">
                <a:latin typeface="Times New Roman" pitchFamily="18" charset="0"/>
                <a:cs typeface="Times New Roman" pitchFamily="18" charset="0"/>
              </a:rPr>
              <a:t>Data </a:t>
            </a:r>
            <a:r>
              <a:rPr lang="en-US" sz="1600" b="1" dirty="0">
                <a:latin typeface="Times New Roman" pitchFamily="18" charset="0"/>
                <a:cs typeface="Times New Roman" pitchFamily="18" charset="0"/>
              </a:rPr>
              <a:t>In </a:t>
            </a:r>
            <a:r>
              <a:rPr lang="en-US" sz="1600" b="1" dirty="0" smtClean="0">
                <a:latin typeface="Times New Roman" pitchFamily="18" charset="0"/>
                <a:cs typeface="Times New Roman" pitchFamily="18" charset="0"/>
              </a:rPr>
              <a:t>Hand</a:t>
            </a:r>
          </a:p>
          <a:p>
            <a:endParaRPr lang="en-US" sz="1400" dirty="0" smtClean="0">
              <a:latin typeface="Times New Roman" pitchFamily="18" charset="0"/>
              <a:cs typeface="Times New Roman" pitchFamily="18" charset="0"/>
            </a:endParaRPr>
          </a:p>
          <a:p>
            <a:pPr marL="177800"/>
            <a:r>
              <a:rPr lang="en-US" sz="1400" dirty="0" smtClean="0">
                <a:latin typeface="Times New Roman" pitchFamily="18" charset="0"/>
                <a:cs typeface="Times New Roman" pitchFamily="18" charset="0"/>
              </a:rPr>
              <a:t>The </a:t>
            </a:r>
            <a:r>
              <a:rPr lang="en-US" sz="1400" dirty="0">
                <a:latin typeface="Times New Roman" pitchFamily="18" charset="0"/>
                <a:cs typeface="Times New Roman" pitchFamily="18" charset="0"/>
              </a:rPr>
              <a:t>present study uses a Life Expectancy Dataset containing global health, economic, and social indicators collected from various countries</a:t>
            </a:r>
            <a:r>
              <a:rPr lang="en-US" sz="1400" dirty="0" smtClean="0">
                <a:latin typeface="Times New Roman" pitchFamily="18" charset="0"/>
                <a:cs typeface="Times New Roman" pitchFamily="18" charset="0"/>
              </a:rPr>
              <a:t>.</a:t>
            </a:r>
            <a:endParaRPr lang="en-US" sz="1400" dirty="0">
              <a:latin typeface="Times New Roman" pitchFamily="18" charset="0"/>
              <a:cs typeface="Times New Roman" pitchFamily="18" charset="0"/>
            </a:endParaRPr>
          </a:p>
          <a:p>
            <a:pPr marL="177800"/>
            <a:r>
              <a:rPr lang="en-US" sz="1400" dirty="0">
                <a:latin typeface="Times New Roman" pitchFamily="18" charset="0"/>
                <a:cs typeface="Times New Roman" pitchFamily="18" charset="0"/>
              </a:rPr>
              <a:t>The dataset includes country-wise information such as economic conditions, health factors, mortality rates, and education levels, which are used to </a:t>
            </a:r>
            <a:r>
              <a:rPr lang="en-US" sz="1400" dirty="0" smtClean="0">
                <a:latin typeface="Times New Roman" pitchFamily="18" charset="0"/>
                <a:cs typeface="Times New Roman" pitchFamily="18" charset="0"/>
              </a:rPr>
              <a:t> analyse  patterns </a:t>
            </a:r>
            <a:r>
              <a:rPr lang="en-US" sz="1400" dirty="0">
                <a:latin typeface="Times New Roman" pitchFamily="18" charset="0"/>
                <a:cs typeface="Times New Roman" pitchFamily="18" charset="0"/>
              </a:rPr>
              <a:t>and predict life expectancy</a:t>
            </a:r>
            <a:r>
              <a:rPr lang="en-US" sz="1400" dirty="0" smtClean="0">
                <a:latin typeface="Times New Roman" pitchFamily="18" charset="0"/>
                <a:cs typeface="Times New Roman" pitchFamily="18" charset="0"/>
              </a:rPr>
              <a:t>.</a:t>
            </a:r>
          </a:p>
          <a:p>
            <a:endParaRPr lang="en-US" sz="1400" dirty="0">
              <a:latin typeface="Times New Roman" pitchFamily="18" charset="0"/>
              <a:cs typeface="Times New Roman" pitchFamily="18" charset="0"/>
            </a:endParaRPr>
          </a:p>
          <a:p>
            <a:r>
              <a:rPr lang="en-US" sz="1600" b="1" dirty="0">
                <a:latin typeface="Times New Roman" pitchFamily="18" charset="0"/>
                <a:cs typeface="Times New Roman" pitchFamily="18" charset="0"/>
              </a:rPr>
              <a:t>Key variables in the dataset include</a:t>
            </a:r>
            <a:r>
              <a:rPr lang="en-US" sz="1600" b="1" dirty="0" smtClean="0">
                <a:latin typeface="Times New Roman" pitchFamily="18" charset="0"/>
                <a:cs typeface="Times New Roman" pitchFamily="18" charset="0"/>
              </a:rPr>
              <a:t>:</a:t>
            </a:r>
          </a:p>
          <a:p>
            <a:endParaRPr lang="en-US" sz="1600" b="1" dirty="0">
              <a:latin typeface="Times New Roman" pitchFamily="18" charset="0"/>
              <a:cs typeface="Times New Roman" pitchFamily="18" charset="0"/>
            </a:endParaRPr>
          </a:p>
          <a:p>
            <a:pPr marL="273050"/>
            <a:r>
              <a:rPr lang="en-US" sz="1400" dirty="0">
                <a:latin typeface="Times New Roman" pitchFamily="18" charset="0"/>
                <a:cs typeface="Times New Roman" pitchFamily="18" charset="0"/>
              </a:rPr>
              <a:t>• Life Expectancy (Target Variable)</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GDP</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Schooling</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Adult Mortality</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BMI</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Alcohol Consumption</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HIV/AIDS</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Polio Vaccination</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Diphtheria Vaccination</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Status (Developed / Developing Country</a:t>
            </a:r>
            <a:r>
              <a:rPr lang="en-US" sz="1400" dirty="0" smtClean="0">
                <a:latin typeface="Times New Roman" pitchFamily="18" charset="0"/>
                <a:cs typeface="Times New Roman" pitchFamily="18" charset="0"/>
              </a:rPr>
              <a:t>)</a:t>
            </a:r>
          </a:p>
          <a:p>
            <a:pPr marL="177800"/>
            <a:endParaRPr lang="en-US" sz="1400" dirty="0">
              <a:latin typeface="Times New Roman" pitchFamily="18" charset="0"/>
              <a:cs typeface="Times New Roman" pitchFamily="18" charset="0"/>
            </a:endParaRPr>
          </a:p>
          <a:p>
            <a:pPr marL="273050"/>
            <a:r>
              <a:rPr lang="en-US" sz="1400" dirty="0">
                <a:latin typeface="Times New Roman" pitchFamily="18" charset="0"/>
                <a:cs typeface="Times New Roman" pitchFamily="18" charset="0"/>
              </a:rPr>
              <a:t>The dataset is used to analyse relationships between health, economic, and social factors and their impact on life expectancy across different countries</a:t>
            </a:r>
            <a:r>
              <a:rPr lang="en-US" sz="1400" dirty="0" smtClean="0">
                <a:latin typeface="Times New Roman" pitchFamily="18" charset="0"/>
                <a:cs typeface="Times New Roman" pitchFamily="18" charset="0"/>
              </a:rPr>
              <a:t>.</a:t>
            </a:r>
          </a:p>
          <a:p>
            <a:pPr marL="273050"/>
            <a:endParaRPr lang="en-US" sz="1400" dirty="0">
              <a:latin typeface="Times New Roman" pitchFamily="18" charset="0"/>
              <a:cs typeface="Times New Roman" pitchFamily="18" charset="0"/>
            </a:endParaRPr>
          </a:p>
          <a:p>
            <a:pPr marL="273050"/>
            <a:r>
              <a:rPr lang="en-US" sz="1400" dirty="0">
                <a:latin typeface="Times New Roman" pitchFamily="18" charset="0"/>
                <a:cs typeface="Times New Roman" pitchFamily="18" charset="0"/>
              </a:rPr>
              <a:t>The cleaned and processed dataset is further utilized for machine learning model development and visualization through a Power BI dashboard for better insights and decision-making.</a:t>
            </a:r>
          </a:p>
        </p:txBody>
      </p:sp>
    </p:spTree>
    <p:extLst>
      <p:ext uri="{BB962C8B-B14F-4D97-AF65-F5344CB8AC3E}">
        <p14:creationId xmlns:p14="http://schemas.microsoft.com/office/powerpoint/2010/main" val="263393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13</a:t>
            </a:fld>
            <a:endParaRPr lang="en-IN" sz="1600" b="1" dirty="0"/>
          </a:p>
        </p:txBody>
      </p:sp>
      <p:sp>
        <p:nvSpPr>
          <p:cNvPr id="2" name="TextBox 1"/>
          <p:cNvSpPr txBox="1"/>
          <p:nvPr/>
        </p:nvSpPr>
        <p:spPr>
          <a:xfrm>
            <a:off x="632520" y="1340768"/>
            <a:ext cx="3096344" cy="5016758"/>
          </a:xfrm>
          <a:prstGeom prst="rect">
            <a:avLst/>
          </a:prstGeom>
          <a:noFill/>
        </p:spPr>
        <p:txBody>
          <a:bodyPr wrap="square" rtlCol="0">
            <a:spAutoFit/>
          </a:bodyPr>
          <a:lstStyle/>
          <a:p>
            <a:r>
              <a:rPr lang="en-US" sz="1600" dirty="0" smtClean="0">
                <a:latin typeface="Times New Roman" pitchFamily="18" charset="0"/>
                <a:cs typeface="Times New Roman" pitchFamily="18" charset="0"/>
              </a:rPr>
              <a:t>This </a:t>
            </a:r>
            <a:r>
              <a:rPr lang="en-US" sz="1600" dirty="0">
                <a:latin typeface="Times New Roman" pitchFamily="18" charset="0"/>
                <a:cs typeface="Times New Roman" pitchFamily="18" charset="0"/>
              </a:rPr>
              <a:t>analysis focuses on understanding how life expectancy has changed over time across developed and developing countries</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marL="450850" indent="-177800"/>
            <a:r>
              <a:rPr lang="en-US" sz="1600" dirty="0">
                <a:latin typeface="Times New Roman" pitchFamily="18" charset="0"/>
                <a:cs typeface="Times New Roman" pitchFamily="18" charset="0"/>
              </a:rPr>
              <a:t>• Life expectancy has steadily increased for both </a:t>
            </a:r>
            <a:r>
              <a:rPr lang="en-US" sz="1600" dirty="0" smtClean="0">
                <a:latin typeface="Times New Roman" pitchFamily="18" charset="0"/>
                <a:cs typeface="Times New Roman" pitchFamily="18" charset="0"/>
              </a:rPr>
              <a:t>developed   and </a:t>
            </a:r>
            <a:r>
              <a:rPr lang="en-US" sz="1600" dirty="0">
                <a:latin typeface="Times New Roman" pitchFamily="18" charset="0"/>
                <a:cs typeface="Times New Roman" pitchFamily="18" charset="0"/>
              </a:rPr>
              <a:t>developing countries over the years</a:t>
            </a:r>
            <a:r>
              <a:rPr lang="en-US" sz="1600" dirty="0" smtClean="0">
                <a:latin typeface="Times New Roman" pitchFamily="18" charset="0"/>
                <a:cs typeface="Times New Roman" pitchFamily="18" charset="0"/>
              </a:rPr>
              <a:t>.</a:t>
            </a:r>
          </a:p>
          <a:p>
            <a:pPr marL="450850" indent="-177800"/>
            <a:endParaRPr lang="en-US" sz="1600" dirty="0">
              <a:latin typeface="Times New Roman" pitchFamily="18" charset="0"/>
              <a:cs typeface="Times New Roman" pitchFamily="18" charset="0"/>
            </a:endParaRPr>
          </a:p>
          <a:p>
            <a:pPr marL="450850" indent="-177800"/>
            <a:r>
              <a:rPr lang="en-US" sz="1600" dirty="0">
                <a:latin typeface="Times New Roman" pitchFamily="18" charset="0"/>
                <a:cs typeface="Times New Roman" pitchFamily="18" charset="0"/>
              </a:rPr>
              <a:t>• Developed countries consistently show higher life expectancy compared to developing countries</a:t>
            </a:r>
            <a:r>
              <a:rPr lang="en-US" sz="1600" dirty="0" smtClean="0">
                <a:latin typeface="Times New Roman" pitchFamily="18" charset="0"/>
                <a:cs typeface="Times New Roman" pitchFamily="18" charset="0"/>
              </a:rPr>
              <a:t>.</a:t>
            </a:r>
          </a:p>
          <a:p>
            <a:pPr marL="450850" indent="-177800"/>
            <a:endParaRPr lang="en-US" sz="1600" dirty="0">
              <a:latin typeface="Times New Roman" pitchFamily="18" charset="0"/>
              <a:cs typeface="Times New Roman" pitchFamily="18" charset="0"/>
            </a:endParaRPr>
          </a:p>
          <a:p>
            <a:pPr marL="450850" indent="-177800"/>
            <a:r>
              <a:rPr lang="en-US" sz="1600" dirty="0">
                <a:latin typeface="Times New Roman" pitchFamily="18" charset="0"/>
                <a:cs typeface="Times New Roman" pitchFamily="18" charset="0"/>
              </a:rPr>
              <a:t>• Developing countries show gradual improvement, indicating better healthcare and living conditions.</a:t>
            </a:r>
          </a:p>
        </p:txBody>
      </p:sp>
      <p:sp>
        <p:nvSpPr>
          <p:cNvPr id="7" name="TextBox 6"/>
          <p:cNvSpPr txBox="1"/>
          <p:nvPr/>
        </p:nvSpPr>
        <p:spPr>
          <a:xfrm>
            <a:off x="632520" y="611396"/>
            <a:ext cx="4752528" cy="400110"/>
          </a:xfrm>
          <a:prstGeom prst="rect">
            <a:avLst/>
          </a:prstGeom>
          <a:noFill/>
        </p:spPr>
        <p:txBody>
          <a:bodyPr wrap="square" rtlCol="0">
            <a:spAutoFit/>
          </a:bodyPr>
          <a:lstStyle/>
          <a:p>
            <a:r>
              <a:rPr lang="en-US" sz="2000" b="1" dirty="0">
                <a:latin typeface="Times New Roman" pitchFamily="18" charset="0"/>
                <a:cs typeface="Times New Roman" pitchFamily="18" charset="0"/>
              </a:rPr>
              <a:t>1) Life Expectancy Trend Over </a:t>
            </a:r>
            <a:r>
              <a:rPr lang="en-US" sz="2000" b="1" dirty="0" smtClean="0">
                <a:latin typeface="Times New Roman" pitchFamily="18" charset="0"/>
                <a:cs typeface="Times New Roman" pitchFamily="18" charset="0"/>
              </a:rPr>
              <a:t>Time</a:t>
            </a:r>
            <a:endParaRPr lang="en-US" sz="2000" b="1" dirty="0">
              <a:latin typeface="Times New Roman" pitchFamily="18" charset="0"/>
              <a:cs typeface="Times New Roman" pitchFamily="18"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8904" y="1290623"/>
            <a:ext cx="5256584" cy="4010585"/>
          </a:xfrm>
          <a:prstGeom prst="rect">
            <a:avLst/>
          </a:prstGeom>
        </p:spPr>
      </p:pic>
    </p:spTree>
    <p:extLst>
      <p:ext uri="{BB962C8B-B14F-4D97-AF65-F5344CB8AC3E}">
        <p14:creationId xmlns:p14="http://schemas.microsoft.com/office/powerpoint/2010/main" val="28660734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14</a:t>
            </a:fld>
            <a:endParaRPr lang="en-IN" sz="1600" b="1" dirty="0"/>
          </a:p>
        </p:txBody>
      </p:sp>
      <p:sp>
        <p:nvSpPr>
          <p:cNvPr id="2" name="TextBox 1"/>
          <p:cNvSpPr txBox="1"/>
          <p:nvPr/>
        </p:nvSpPr>
        <p:spPr>
          <a:xfrm>
            <a:off x="632520" y="1340768"/>
            <a:ext cx="3096344" cy="4278094"/>
          </a:xfrm>
          <a:prstGeom prst="rect">
            <a:avLst/>
          </a:prstGeom>
          <a:noFill/>
        </p:spPr>
        <p:txBody>
          <a:bodyPr wrap="square" rtlCol="0">
            <a:spAutoFit/>
          </a:bodyPr>
          <a:lstStyle/>
          <a:p>
            <a:r>
              <a:rPr lang="en-US" sz="1600" dirty="0" smtClean="0">
                <a:latin typeface="Times New Roman" pitchFamily="18" charset="0"/>
                <a:cs typeface="Times New Roman" pitchFamily="18" charset="0"/>
              </a:rPr>
              <a:t>This </a:t>
            </a:r>
            <a:r>
              <a:rPr lang="en-US" sz="1600" dirty="0">
                <a:latin typeface="Times New Roman" pitchFamily="18" charset="0"/>
                <a:cs typeface="Times New Roman" pitchFamily="18" charset="0"/>
              </a:rPr>
              <a:t>analysis identifies the countries with the highest average life expectancy</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Countries like Japan, Sweden, Iceland, and Switzerland rank among the highest in life expectancy</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Most of these countries are developed nations with strong healthcare and living standards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High life expectancy in these countries reflects better healthcare systems, nutrition, and quality of life.</a:t>
            </a:r>
          </a:p>
        </p:txBody>
      </p:sp>
      <p:sp>
        <p:nvSpPr>
          <p:cNvPr id="7" name="TextBox 6"/>
          <p:cNvSpPr txBox="1"/>
          <p:nvPr/>
        </p:nvSpPr>
        <p:spPr>
          <a:xfrm>
            <a:off x="632520" y="611396"/>
            <a:ext cx="6264696" cy="400110"/>
          </a:xfrm>
          <a:prstGeom prst="rect">
            <a:avLst/>
          </a:prstGeom>
          <a:noFill/>
        </p:spPr>
        <p:txBody>
          <a:bodyPr wrap="square" rtlCol="0">
            <a:spAutoFit/>
          </a:bodyPr>
          <a:lstStyle/>
          <a:p>
            <a:r>
              <a:rPr lang="en-US" sz="2000" b="1" dirty="0">
                <a:latin typeface="Times New Roman" pitchFamily="18" charset="0"/>
                <a:cs typeface="Times New Roman" pitchFamily="18" charset="0"/>
              </a:rPr>
              <a:t>2) Top 10 Countries with Highest </a:t>
            </a:r>
            <a:r>
              <a:rPr lang="en-US" sz="2000" b="1" dirty="0" smtClean="0">
                <a:latin typeface="Times New Roman" pitchFamily="18" charset="0"/>
                <a:cs typeface="Times New Roman" pitchFamily="18" charset="0"/>
              </a:rPr>
              <a:t> Life </a:t>
            </a:r>
            <a:r>
              <a:rPr lang="en-US" sz="2000" b="1" dirty="0">
                <a:latin typeface="Times New Roman" pitchFamily="18" charset="0"/>
                <a:cs typeface="Times New Roman" pitchFamily="18" charset="0"/>
              </a:rPr>
              <a:t>Expectancy</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2880" y="1124744"/>
            <a:ext cx="5472608" cy="4248472"/>
          </a:xfrm>
          <a:prstGeom prst="rect">
            <a:avLst/>
          </a:prstGeom>
        </p:spPr>
      </p:pic>
    </p:spTree>
    <p:extLst>
      <p:ext uri="{BB962C8B-B14F-4D97-AF65-F5344CB8AC3E}">
        <p14:creationId xmlns:p14="http://schemas.microsoft.com/office/powerpoint/2010/main" val="37796526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15</a:t>
            </a:fld>
            <a:endParaRPr lang="en-IN" sz="1600" b="1" dirty="0"/>
          </a:p>
        </p:txBody>
      </p:sp>
      <p:sp>
        <p:nvSpPr>
          <p:cNvPr id="2" name="TextBox 1"/>
          <p:cNvSpPr txBox="1"/>
          <p:nvPr/>
        </p:nvSpPr>
        <p:spPr>
          <a:xfrm>
            <a:off x="632520" y="1340768"/>
            <a:ext cx="2880320" cy="4524315"/>
          </a:xfrm>
          <a:prstGeom prst="rect">
            <a:avLst/>
          </a:prstGeom>
          <a:noFill/>
        </p:spPr>
        <p:txBody>
          <a:bodyPr wrap="square" rtlCol="0">
            <a:spAutoFit/>
          </a:bodyPr>
          <a:lstStyle/>
          <a:p>
            <a:r>
              <a:rPr lang="en-US" sz="1600" dirty="0">
                <a:latin typeface="Times New Roman" pitchFamily="18" charset="0"/>
                <a:cs typeface="Times New Roman" pitchFamily="18" charset="0"/>
              </a:rPr>
              <a:t>This analysis identifies the countries with the lowest average life expectancy</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Countries such as Sierra Leone, Central African Republic, and Lesotho have the lowest life expectancy</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Most of these countries are developing nations facing economic and healthcare challenges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Low life expectancy is mainly influenced by high mortality rates, diseases, and limited healthcare access.</a:t>
            </a:r>
          </a:p>
        </p:txBody>
      </p:sp>
      <p:sp>
        <p:nvSpPr>
          <p:cNvPr id="7" name="TextBox 6"/>
          <p:cNvSpPr txBox="1"/>
          <p:nvPr/>
        </p:nvSpPr>
        <p:spPr>
          <a:xfrm>
            <a:off x="632520" y="611396"/>
            <a:ext cx="6120680" cy="400110"/>
          </a:xfrm>
          <a:prstGeom prst="rect">
            <a:avLst/>
          </a:prstGeom>
          <a:noFill/>
        </p:spPr>
        <p:txBody>
          <a:bodyPr wrap="square" rtlCol="0">
            <a:spAutoFit/>
          </a:bodyPr>
          <a:lstStyle/>
          <a:p>
            <a:r>
              <a:rPr lang="en-US" sz="2000" b="1" dirty="0">
                <a:latin typeface="Times New Roman" pitchFamily="18" charset="0"/>
                <a:cs typeface="Times New Roman" pitchFamily="18" charset="0"/>
              </a:rPr>
              <a:t>3) Bottom 10 Countries with Lowest Life Expectancy</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2840" y="1340767"/>
            <a:ext cx="5832648" cy="4524315"/>
          </a:xfrm>
          <a:prstGeom prst="rect">
            <a:avLst/>
          </a:prstGeom>
        </p:spPr>
      </p:pic>
    </p:spTree>
    <p:extLst>
      <p:ext uri="{BB962C8B-B14F-4D97-AF65-F5344CB8AC3E}">
        <p14:creationId xmlns:p14="http://schemas.microsoft.com/office/powerpoint/2010/main" val="1637174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16</a:t>
            </a:fld>
            <a:endParaRPr lang="en-IN" sz="1600" b="1" dirty="0"/>
          </a:p>
        </p:txBody>
      </p:sp>
      <p:sp>
        <p:nvSpPr>
          <p:cNvPr id="2" name="TextBox 1"/>
          <p:cNvSpPr txBox="1"/>
          <p:nvPr/>
        </p:nvSpPr>
        <p:spPr>
          <a:xfrm>
            <a:off x="560512" y="1340767"/>
            <a:ext cx="2880320" cy="4770537"/>
          </a:xfrm>
          <a:prstGeom prst="rect">
            <a:avLst/>
          </a:prstGeom>
          <a:noFill/>
        </p:spPr>
        <p:txBody>
          <a:bodyPr wrap="square" rtlCol="0">
            <a:spAutoFit/>
          </a:bodyPr>
          <a:lstStyle/>
          <a:p>
            <a:r>
              <a:rPr lang="en-US" sz="1600" dirty="0">
                <a:latin typeface="Times New Roman" pitchFamily="18" charset="0"/>
                <a:cs typeface="Times New Roman" pitchFamily="18" charset="0"/>
              </a:rPr>
              <a:t>This analysis shows the distribution of life expectancy between developed and developing countries</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Developed countries have a higher average life expectancy compared to developing countries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Developing countries account for a lower life expectancy due to economic and healthcare limitations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The distribution highlights a clear gap between developed and developing nations in terms of lifespan.</a:t>
            </a:r>
          </a:p>
        </p:txBody>
      </p:sp>
      <p:sp>
        <p:nvSpPr>
          <p:cNvPr id="7" name="TextBox 6"/>
          <p:cNvSpPr txBox="1"/>
          <p:nvPr/>
        </p:nvSpPr>
        <p:spPr>
          <a:xfrm>
            <a:off x="632520" y="611396"/>
            <a:ext cx="6912768" cy="400110"/>
          </a:xfrm>
          <a:prstGeom prst="rect">
            <a:avLst/>
          </a:prstGeom>
          <a:noFill/>
        </p:spPr>
        <p:txBody>
          <a:bodyPr wrap="square" rtlCol="0">
            <a:spAutoFit/>
          </a:bodyPr>
          <a:lstStyle/>
          <a:p>
            <a:r>
              <a:rPr lang="en-US" sz="2000" b="1" dirty="0">
                <a:latin typeface="Times New Roman" pitchFamily="18" charset="0"/>
                <a:cs typeface="Times New Roman" pitchFamily="18" charset="0"/>
              </a:rPr>
              <a:t>4) Distribution between Developed and Developing Countries</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1917" y="1340767"/>
            <a:ext cx="5534494" cy="4524315"/>
          </a:xfrm>
          <a:prstGeom prst="rect">
            <a:avLst/>
          </a:prstGeom>
        </p:spPr>
      </p:pic>
    </p:spTree>
    <p:extLst>
      <p:ext uri="{BB962C8B-B14F-4D97-AF65-F5344CB8AC3E}">
        <p14:creationId xmlns:p14="http://schemas.microsoft.com/office/powerpoint/2010/main" val="10936663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17</a:t>
            </a:fld>
            <a:endParaRPr lang="en-IN" sz="1600" b="1" dirty="0"/>
          </a:p>
        </p:txBody>
      </p:sp>
      <p:sp>
        <p:nvSpPr>
          <p:cNvPr id="2" name="TextBox 1"/>
          <p:cNvSpPr txBox="1"/>
          <p:nvPr/>
        </p:nvSpPr>
        <p:spPr>
          <a:xfrm>
            <a:off x="560512" y="1340767"/>
            <a:ext cx="2880320" cy="4031873"/>
          </a:xfrm>
          <a:prstGeom prst="rect">
            <a:avLst/>
          </a:prstGeom>
          <a:noFill/>
        </p:spPr>
        <p:txBody>
          <a:bodyPr wrap="square" rtlCol="0">
            <a:spAutoFit/>
          </a:bodyPr>
          <a:lstStyle/>
          <a:p>
            <a:r>
              <a:rPr lang="en-US" sz="1600" dirty="0">
                <a:latin typeface="Times New Roman" pitchFamily="18" charset="0"/>
                <a:cs typeface="Times New Roman" pitchFamily="18" charset="0"/>
              </a:rPr>
              <a:t>This analysis examines whether vaccination rates have improved over time</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marL="177800" indent="-82550"/>
            <a:r>
              <a:rPr lang="en-US" sz="1600" dirty="0">
                <a:latin typeface="Times New Roman" pitchFamily="18" charset="0"/>
                <a:cs typeface="Times New Roman" pitchFamily="18" charset="0"/>
              </a:rPr>
              <a:t>• Vaccination rates for both Polio and Diphtheria show a steady increase over the years</a:t>
            </a:r>
            <a:r>
              <a:rPr lang="en-US" sz="1600" dirty="0" smtClean="0">
                <a:latin typeface="Times New Roman" pitchFamily="18" charset="0"/>
                <a:cs typeface="Times New Roman" pitchFamily="18" charset="0"/>
              </a:rPr>
              <a:t>.</a:t>
            </a:r>
          </a:p>
          <a:p>
            <a:pPr marL="177800" indent="-82550"/>
            <a:endParaRPr lang="en-US" sz="1600" dirty="0">
              <a:latin typeface="Times New Roman" pitchFamily="18" charset="0"/>
              <a:cs typeface="Times New Roman" pitchFamily="18" charset="0"/>
            </a:endParaRPr>
          </a:p>
          <a:p>
            <a:pPr marL="177800" indent="-82550"/>
            <a:r>
              <a:rPr lang="en-US" sz="1600" dirty="0">
                <a:latin typeface="Times New Roman" pitchFamily="18" charset="0"/>
                <a:cs typeface="Times New Roman" pitchFamily="18" charset="0"/>
              </a:rPr>
              <a:t>• The trend indicates improved healthcare awareness and immunization programs</a:t>
            </a:r>
            <a:r>
              <a:rPr lang="en-US" sz="1600" dirty="0" smtClean="0">
                <a:latin typeface="Times New Roman" pitchFamily="18" charset="0"/>
                <a:cs typeface="Times New Roman" pitchFamily="18" charset="0"/>
              </a:rPr>
              <a:t>.</a:t>
            </a:r>
          </a:p>
          <a:p>
            <a:pPr marL="177800" indent="-82550"/>
            <a:endParaRPr lang="en-US" sz="1600" dirty="0">
              <a:latin typeface="Times New Roman" pitchFamily="18" charset="0"/>
              <a:cs typeface="Times New Roman" pitchFamily="18" charset="0"/>
            </a:endParaRPr>
          </a:p>
          <a:p>
            <a:pPr marL="177800" indent="-82550"/>
            <a:r>
              <a:rPr lang="en-US" sz="1600" dirty="0">
                <a:latin typeface="Times New Roman" pitchFamily="18" charset="0"/>
                <a:cs typeface="Times New Roman" pitchFamily="18" charset="0"/>
              </a:rPr>
              <a:t>• Higher vaccination coverage contributes to better health outcomes and increased life expectancy.</a:t>
            </a:r>
          </a:p>
        </p:txBody>
      </p:sp>
      <p:sp>
        <p:nvSpPr>
          <p:cNvPr id="7" name="TextBox 6"/>
          <p:cNvSpPr txBox="1"/>
          <p:nvPr/>
        </p:nvSpPr>
        <p:spPr>
          <a:xfrm>
            <a:off x="632520" y="611396"/>
            <a:ext cx="6912768" cy="400110"/>
          </a:xfrm>
          <a:prstGeom prst="rect">
            <a:avLst/>
          </a:prstGeom>
          <a:noFill/>
        </p:spPr>
        <p:txBody>
          <a:bodyPr wrap="square" rtlCol="0">
            <a:spAutoFit/>
          </a:bodyPr>
          <a:lstStyle/>
          <a:p>
            <a:r>
              <a:rPr lang="en-US" sz="2000" b="1" dirty="0">
                <a:latin typeface="Times New Roman" pitchFamily="18" charset="0"/>
                <a:cs typeface="Times New Roman" pitchFamily="18" charset="0"/>
              </a:rPr>
              <a:t>5) Vaccination Trends (Polio and Diphtheria)</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4848" y="1340767"/>
            <a:ext cx="5760640" cy="3954589"/>
          </a:xfrm>
          <a:prstGeom prst="rect">
            <a:avLst/>
          </a:prstGeom>
        </p:spPr>
      </p:pic>
    </p:spTree>
    <p:extLst>
      <p:ext uri="{BB962C8B-B14F-4D97-AF65-F5344CB8AC3E}">
        <p14:creationId xmlns:p14="http://schemas.microsoft.com/office/powerpoint/2010/main" val="31325139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18</a:t>
            </a:fld>
            <a:endParaRPr lang="en-IN" sz="1600" b="1" dirty="0"/>
          </a:p>
        </p:txBody>
      </p:sp>
      <p:sp>
        <p:nvSpPr>
          <p:cNvPr id="2" name="TextBox 1"/>
          <p:cNvSpPr txBox="1"/>
          <p:nvPr/>
        </p:nvSpPr>
        <p:spPr>
          <a:xfrm>
            <a:off x="488504" y="1340767"/>
            <a:ext cx="2880320" cy="4770537"/>
          </a:xfrm>
          <a:prstGeom prst="rect">
            <a:avLst/>
          </a:prstGeom>
          <a:noFill/>
        </p:spPr>
        <p:txBody>
          <a:bodyPr wrap="square" rtlCol="0">
            <a:spAutoFit/>
          </a:bodyPr>
          <a:lstStyle/>
          <a:p>
            <a:r>
              <a:rPr lang="en-US" sz="1600" dirty="0">
                <a:latin typeface="Times New Roman" pitchFamily="18" charset="0"/>
                <a:cs typeface="Times New Roman" pitchFamily="18" charset="0"/>
              </a:rPr>
              <a:t>This analysis examines whether higher GDP leads to higher life expectancy</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There is a positive relationship between GDP and life expectancy across countries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Countries with higher GDP generally show higher life expectancy levels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This indicates that better economic conditions contribute to improved healthcare and living standards</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p:txBody>
      </p:sp>
      <p:sp>
        <p:nvSpPr>
          <p:cNvPr id="7" name="TextBox 6"/>
          <p:cNvSpPr txBox="1"/>
          <p:nvPr/>
        </p:nvSpPr>
        <p:spPr>
          <a:xfrm>
            <a:off x="632520" y="611396"/>
            <a:ext cx="6912768" cy="400110"/>
          </a:xfrm>
          <a:prstGeom prst="rect">
            <a:avLst/>
          </a:prstGeom>
          <a:noFill/>
        </p:spPr>
        <p:txBody>
          <a:bodyPr wrap="square" rtlCol="0">
            <a:spAutoFit/>
          </a:bodyPr>
          <a:lstStyle/>
          <a:p>
            <a:r>
              <a:rPr lang="en-US" sz="2000" b="1" dirty="0">
                <a:latin typeface="Times New Roman" pitchFamily="18" charset="0"/>
                <a:cs typeface="Times New Roman" pitchFamily="18" charset="0"/>
              </a:rPr>
              <a:t>6) Relationship between GDP and Life Expectancy</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6816" y="1340767"/>
            <a:ext cx="6048672" cy="4392489"/>
          </a:xfrm>
          <a:prstGeom prst="rect">
            <a:avLst/>
          </a:prstGeom>
        </p:spPr>
      </p:pic>
    </p:spTree>
    <p:extLst>
      <p:ext uri="{BB962C8B-B14F-4D97-AF65-F5344CB8AC3E}">
        <p14:creationId xmlns:p14="http://schemas.microsoft.com/office/powerpoint/2010/main" val="38677245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19</a:t>
            </a:fld>
            <a:endParaRPr lang="en-IN" sz="1600" b="1" dirty="0"/>
          </a:p>
        </p:txBody>
      </p:sp>
      <p:sp>
        <p:nvSpPr>
          <p:cNvPr id="2" name="TextBox 1"/>
          <p:cNvSpPr txBox="1"/>
          <p:nvPr/>
        </p:nvSpPr>
        <p:spPr>
          <a:xfrm>
            <a:off x="488504" y="1340767"/>
            <a:ext cx="2880320" cy="4278094"/>
          </a:xfrm>
          <a:prstGeom prst="rect">
            <a:avLst/>
          </a:prstGeom>
          <a:noFill/>
        </p:spPr>
        <p:txBody>
          <a:bodyPr wrap="square" rtlCol="0">
            <a:spAutoFit/>
          </a:bodyPr>
          <a:lstStyle/>
          <a:p>
            <a:r>
              <a:rPr lang="en-US" sz="1600" dirty="0">
                <a:latin typeface="Times New Roman" pitchFamily="18" charset="0"/>
                <a:cs typeface="Times New Roman" pitchFamily="18" charset="0"/>
              </a:rPr>
              <a:t>This analysis examines how education levels affect life expectancy</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marL="355600" indent="-177800"/>
            <a:r>
              <a:rPr lang="en-US" sz="1600" dirty="0">
                <a:latin typeface="Times New Roman" pitchFamily="18" charset="0"/>
                <a:cs typeface="Times New Roman" pitchFamily="18" charset="0"/>
              </a:rPr>
              <a:t>• There is a strong positive relationship between schooling and life expectancy</a:t>
            </a:r>
            <a:r>
              <a:rPr lang="en-US" sz="1600" dirty="0" smtClean="0">
                <a:latin typeface="Times New Roman" pitchFamily="18" charset="0"/>
                <a:cs typeface="Times New Roman" pitchFamily="18" charset="0"/>
              </a:rPr>
              <a:t>.</a:t>
            </a:r>
          </a:p>
          <a:p>
            <a:pPr marL="355600" indent="-177800"/>
            <a:endParaRPr lang="en-US" sz="1600" dirty="0">
              <a:latin typeface="Times New Roman" pitchFamily="18" charset="0"/>
              <a:cs typeface="Times New Roman" pitchFamily="18" charset="0"/>
            </a:endParaRPr>
          </a:p>
          <a:p>
            <a:pPr marL="355600" indent="-177800"/>
            <a:r>
              <a:rPr lang="en-US" sz="1600" dirty="0">
                <a:latin typeface="Times New Roman" pitchFamily="18" charset="0"/>
                <a:cs typeface="Times New Roman" pitchFamily="18" charset="0"/>
              </a:rPr>
              <a:t>• Countries with higher years of schooling tend to have higher life expectancy</a:t>
            </a:r>
            <a:r>
              <a:rPr lang="en-US" sz="1600" dirty="0" smtClean="0">
                <a:latin typeface="Times New Roman" pitchFamily="18" charset="0"/>
                <a:cs typeface="Times New Roman" pitchFamily="18" charset="0"/>
              </a:rPr>
              <a:t>.</a:t>
            </a:r>
          </a:p>
          <a:p>
            <a:pPr marL="355600" indent="-177800"/>
            <a:endParaRPr lang="en-US" sz="1600" dirty="0">
              <a:latin typeface="Times New Roman" pitchFamily="18" charset="0"/>
              <a:cs typeface="Times New Roman" pitchFamily="18" charset="0"/>
            </a:endParaRPr>
          </a:p>
          <a:p>
            <a:pPr marL="355600" indent="-177800"/>
            <a:r>
              <a:rPr lang="en-US" sz="1600" dirty="0">
                <a:latin typeface="Times New Roman" pitchFamily="18" charset="0"/>
                <a:cs typeface="Times New Roman" pitchFamily="18" charset="0"/>
              </a:rPr>
              <a:t>• Education improves awareness, lifestyle, and access to better healthcare, leading to longer lifespan.</a:t>
            </a:r>
          </a:p>
        </p:txBody>
      </p:sp>
      <p:sp>
        <p:nvSpPr>
          <p:cNvPr id="7" name="TextBox 6"/>
          <p:cNvSpPr txBox="1"/>
          <p:nvPr/>
        </p:nvSpPr>
        <p:spPr>
          <a:xfrm>
            <a:off x="632520" y="611396"/>
            <a:ext cx="6912768" cy="400110"/>
          </a:xfrm>
          <a:prstGeom prst="rect">
            <a:avLst/>
          </a:prstGeom>
          <a:noFill/>
        </p:spPr>
        <p:txBody>
          <a:bodyPr wrap="square" rtlCol="0">
            <a:spAutoFit/>
          </a:bodyPr>
          <a:lstStyle/>
          <a:p>
            <a:r>
              <a:rPr lang="en-US" sz="2000" b="1" dirty="0">
                <a:latin typeface="Times New Roman" pitchFamily="18" charset="0"/>
                <a:cs typeface="Times New Roman" pitchFamily="18" charset="0"/>
              </a:rPr>
              <a:t>7) Impact of Education (Schooling) on Life Expectancy</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6816" y="1340766"/>
            <a:ext cx="6048672" cy="4464497"/>
          </a:xfrm>
          <a:prstGeom prst="rect">
            <a:avLst/>
          </a:prstGeom>
        </p:spPr>
      </p:pic>
    </p:spTree>
    <p:extLst>
      <p:ext uri="{BB962C8B-B14F-4D97-AF65-F5344CB8AC3E}">
        <p14:creationId xmlns:p14="http://schemas.microsoft.com/office/powerpoint/2010/main" val="12185177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20</a:t>
            </a:fld>
            <a:endParaRPr lang="en-IN" sz="1600" b="1" dirty="0"/>
          </a:p>
        </p:txBody>
      </p:sp>
      <p:sp>
        <p:nvSpPr>
          <p:cNvPr id="2" name="TextBox 1"/>
          <p:cNvSpPr txBox="1"/>
          <p:nvPr/>
        </p:nvSpPr>
        <p:spPr>
          <a:xfrm>
            <a:off x="416496" y="1340767"/>
            <a:ext cx="2808312" cy="4524315"/>
          </a:xfrm>
          <a:prstGeom prst="rect">
            <a:avLst/>
          </a:prstGeom>
          <a:noFill/>
        </p:spPr>
        <p:txBody>
          <a:bodyPr wrap="square" rtlCol="0">
            <a:spAutoFit/>
          </a:bodyPr>
          <a:lstStyle/>
          <a:p>
            <a:r>
              <a:rPr lang="en-US" sz="1600" dirty="0">
                <a:latin typeface="Times New Roman" pitchFamily="18" charset="0"/>
                <a:cs typeface="Times New Roman" pitchFamily="18" charset="0"/>
              </a:rPr>
              <a:t>This analysis examines how HIV/AIDS affects life expectancy and adult mortality</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Higher HIV/AIDS rates are associated with lower life expectancy across countries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Countries with high HIV/AIDS prevalence tend to show higher adult mortality rates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This indicates that HIV/AIDS has a significant negative impact on population health and lifespan.</a:t>
            </a:r>
          </a:p>
        </p:txBody>
      </p:sp>
      <p:sp>
        <p:nvSpPr>
          <p:cNvPr id="7" name="TextBox 6"/>
          <p:cNvSpPr txBox="1"/>
          <p:nvPr/>
        </p:nvSpPr>
        <p:spPr>
          <a:xfrm>
            <a:off x="488504" y="548680"/>
            <a:ext cx="6912768" cy="504625"/>
          </a:xfrm>
          <a:prstGeom prst="rect">
            <a:avLst/>
          </a:prstGeom>
          <a:noFill/>
        </p:spPr>
        <p:txBody>
          <a:bodyPr wrap="square" rtlCol="0">
            <a:spAutoFit/>
          </a:bodyPr>
          <a:lstStyle/>
          <a:p>
            <a:pPr marL="177800">
              <a:lnSpc>
                <a:spcPct val="150000"/>
              </a:lnSpc>
            </a:pPr>
            <a:r>
              <a:rPr lang="en-US" sz="2000" b="1" dirty="0">
                <a:latin typeface="Times New Roman" pitchFamily="18" charset="0"/>
                <a:cs typeface="Times New Roman" pitchFamily="18" charset="0"/>
              </a:rPr>
              <a:t>8) Impact of HIV/AIDS on Life Expectancy and Mortality</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4808" y="1340766"/>
            <a:ext cx="6120680" cy="4524315"/>
          </a:xfrm>
          <a:prstGeom prst="rect">
            <a:avLst/>
          </a:prstGeom>
        </p:spPr>
      </p:pic>
    </p:spTree>
    <p:extLst>
      <p:ext uri="{BB962C8B-B14F-4D97-AF65-F5344CB8AC3E}">
        <p14:creationId xmlns:p14="http://schemas.microsoft.com/office/powerpoint/2010/main" val="18423783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21</a:t>
            </a:fld>
            <a:endParaRPr lang="en-IN" sz="1600" b="1" dirty="0"/>
          </a:p>
        </p:txBody>
      </p:sp>
      <p:sp>
        <p:nvSpPr>
          <p:cNvPr id="2" name="TextBox 1"/>
          <p:cNvSpPr txBox="1"/>
          <p:nvPr/>
        </p:nvSpPr>
        <p:spPr>
          <a:xfrm>
            <a:off x="416496" y="1340767"/>
            <a:ext cx="2808312" cy="4278094"/>
          </a:xfrm>
          <a:prstGeom prst="rect">
            <a:avLst/>
          </a:prstGeom>
          <a:noFill/>
        </p:spPr>
        <p:txBody>
          <a:bodyPr wrap="square" rtlCol="0">
            <a:spAutoFit/>
          </a:bodyPr>
          <a:lstStyle/>
          <a:p>
            <a:r>
              <a:rPr lang="en-US" sz="1600" dirty="0">
                <a:latin typeface="Times New Roman" pitchFamily="18" charset="0"/>
                <a:cs typeface="Times New Roman" pitchFamily="18" charset="0"/>
              </a:rPr>
              <a:t>This analysis examines the relationship between BMI and life expectancy</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There is a moderate positive relationship between BMI and life expectancy</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Countries with higher BMI levels tend to show slightly higher life expectancy</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However, the relationship is not very strong, indicating other factors also influence lifespan.</a:t>
            </a:r>
          </a:p>
          <a:p>
            <a:endParaRPr lang="en-US" sz="1600" dirty="0">
              <a:latin typeface="Times New Roman" pitchFamily="18" charset="0"/>
              <a:cs typeface="Times New Roman" pitchFamily="18" charset="0"/>
            </a:endParaRPr>
          </a:p>
        </p:txBody>
      </p:sp>
      <p:sp>
        <p:nvSpPr>
          <p:cNvPr id="7" name="TextBox 6"/>
          <p:cNvSpPr txBox="1"/>
          <p:nvPr/>
        </p:nvSpPr>
        <p:spPr>
          <a:xfrm>
            <a:off x="488504" y="476672"/>
            <a:ext cx="6912768" cy="504625"/>
          </a:xfrm>
          <a:prstGeom prst="rect">
            <a:avLst/>
          </a:prstGeom>
          <a:noFill/>
        </p:spPr>
        <p:txBody>
          <a:bodyPr wrap="square" rtlCol="0">
            <a:spAutoFit/>
          </a:bodyPr>
          <a:lstStyle/>
          <a:p>
            <a:pPr marL="177800">
              <a:lnSpc>
                <a:spcPct val="150000"/>
              </a:lnSpc>
            </a:pPr>
            <a:r>
              <a:rPr lang="en-US" sz="2000" b="1" dirty="0">
                <a:latin typeface="Times New Roman" pitchFamily="18" charset="0"/>
                <a:cs typeface="Times New Roman" pitchFamily="18" charset="0"/>
              </a:rPr>
              <a:t>9) Relationship between BMI and Life Expectancy</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4808" y="1268760"/>
            <a:ext cx="6120680" cy="4524314"/>
          </a:xfrm>
          <a:prstGeom prst="rect">
            <a:avLst/>
          </a:prstGeom>
        </p:spPr>
      </p:pic>
    </p:spTree>
    <p:extLst>
      <p:ext uri="{BB962C8B-B14F-4D97-AF65-F5344CB8AC3E}">
        <p14:creationId xmlns:p14="http://schemas.microsoft.com/office/powerpoint/2010/main" val="6070416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22</a:t>
            </a:fld>
            <a:endParaRPr lang="en-IN" sz="1600" b="1" dirty="0"/>
          </a:p>
        </p:txBody>
      </p:sp>
      <p:sp>
        <p:nvSpPr>
          <p:cNvPr id="2" name="TextBox 1"/>
          <p:cNvSpPr txBox="1"/>
          <p:nvPr/>
        </p:nvSpPr>
        <p:spPr>
          <a:xfrm>
            <a:off x="416496" y="1340767"/>
            <a:ext cx="2808312" cy="4524315"/>
          </a:xfrm>
          <a:prstGeom prst="rect">
            <a:avLst/>
          </a:prstGeom>
          <a:noFill/>
        </p:spPr>
        <p:txBody>
          <a:bodyPr wrap="square" rtlCol="0">
            <a:spAutoFit/>
          </a:bodyPr>
          <a:lstStyle/>
          <a:p>
            <a:r>
              <a:rPr lang="en-US" sz="1600" dirty="0">
                <a:latin typeface="Times New Roman" pitchFamily="18" charset="0"/>
                <a:cs typeface="Times New Roman" pitchFamily="18" charset="0"/>
              </a:rPr>
              <a:t>This analysis examines alcohol consumption between developed and developing countries</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Developed countries show higher alcohol consumption compared to developing countries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Developing countries have relatively lower alcohol consumption levels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This difference reflects lifestyle patterns and socio-economic conditions across countries.</a:t>
            </a:r>
          </a:p>
        </p:txBody>
      </p:sp>
      <p:sp>
        <p:nvSpPr>
          <p:cNvPr id="7" name="TextBox 6"/>
          <p:cNvSpPr txBox="1"/>
          <p:nvPr/>
        </p:nvSpPr>
        <p:spPr>
          <a:xfrm>
            <a:off x="488504" y="476672"/>
            <a:ext cx="6912768" cy="504625"/>
          </a:xfrm>
          <a:prstGeom prst="rect">
            <a:avLst/>
          </a:prstGeom>
          <a:noFill/>
        </p:spPr>
        <p:txBody>
          <a:bodyPr wrap="square" rtlCol="0">
            <a:spAutoFit/>
          </a:bodyPr>
          <a:lstStyle/>
          <a:p>
            <a:pPr marL="177800">
              <a:lnSpc>
                <a:spcPct val="150000"/>
              </a:lnSpc>
            </a:pPr>
            <a:r>
              <a:rPr lang="en-US" sz="2000" b="1" dirty="0">
                <a:latin typeface="Times New Roman" pitchFamily="18" charset="0"/>
                <a:cs typeface="Times New Roman" pitchFamily="18" charset="0"/>
              </a:rPr>
              <a:t>10) Alcohol Consumption by Country Status</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6816" y="1268760"/>
            <a:ext cx="6048672" cy="4464495"/>
          </a:xfrm>
          <a:prstGeom prst="rect">
            <a:avLst/>
          </a:prstGeom>
        </p:spPr>
      </p:pic>
    </p:spTree>
    <p:extLst>
      <p:ext uri="{BB962C8B-B14F-4D97-AF65-F5344CB8AC3E}">
        <p14:creationId xmlns:p14="http://schemas.microsoft.com/office/powerpoint/2010/main" val="37670913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23</a:t>
            </a:fld>
            <a:endParaRPr lang="en-IN" sz="1600" b="1" dirty="0"/>
          </a:p>
        </p:txBody>
      </p:sp>
      <p:sp>
        <p:nvSpPr>
          <p:cNvPr id="2" name="TextBox 1"/>
          <p:cNvSpPr txBox="1"/>
          <p:nvPr/>
        </p:nvSpPr>
        <p:spPr>
          <a:xfrm>
            <a:off x="560512" y="836712"/>
            <a:ext cx="8568952" cy="3046988"/>
          </a:xfrm>
          <a:prstGeom prst="rect">
            <a:avLst/>
          </a:prstGeom>
          <a:noFill/>
        </p:spPr>
        <p:txBody>
          <a:bodyPr wrap="square" rtlCol="0">
            <a:spAutoFit/>
          </a:bodyPr>
          <a:lstStyle/>
          <a:p>
            <a:r>
              <a:rPr lang="en-US" sz="1600" b="1" dirty="0" smtClean="0">
                <a:latin typeface="Times New Roman" pitchFamily="18" charset="0"/>
                <a:cs typeface="Times New Roman" pitchFamily="18" charset="0"/>
              </a:rPr>
              <a:t>Model Selection</a:t>
            </a:r>
          </a:p>
          <a:p>
            <a:endParaRPr lang="en-US" sz="1600" b="1" dirty="0">
              <a:latin typeface="Times New Roman" pitchFamily="18" charset="0"/>
              <a:cs typeface="Times New Roman" pitchFamily="18" charset="0"/>
            </a:endParaRPr>
          </a:p>
          <a:p>
            <a:pPr marL="177800"/>
            <a:r>
              <a:rPr lang="en-US" sz="1600" dirty="0">
                <a:latin typeface="Times New Roman" pitchFamily="18" charset="0"/>
                <a:cs typeface="Times New Roman" pitchFamily="18" charset="0"/>
              </a:rPr>
              <a:t>The objective of this study is to predict life expectancy based on economic, health, and social indicators</a:t>
            </a:r>
            <a:r>
              <a:rPr lang="en-US" sz="1600" dirty="0" smtClean="0">
                <a:latin typeface="Times New Roman" pitchFamily="18" charset="0"/>
                <a:cs typeface="Times New Roman" pitchFamily="18" charset="0"/>
              </a:rPr>
              <a:t>.</a:t>
            </a:r>
          </a:p>
          <a:p>
            <a:pPr marL="177800"/>
            <a:endParaRPr lang="en-US" sz="1600" dirty="0">
              <a:latin typeface="Times New Roman" pitchFamily="18" charset="0"/>
              <a:cs typeface="Times New Roman" pitchFamily="18" charset="0"/>
            </a:endParaRPr>
          </a:p>
          <a:p>
            <a:pPr marL="177800"/>
            <a:r>
              <a:rPr lang="en-US" sz="1600" dirty="0">
                <a:latin typeface="Times New Roman" pitchFamily="18" charset="0"/>
                <a:cs typeface="Times New Roman" pitchFamily="18" charset="0"/>
              </a:rPr>
              <a:t>The following machine learning regression algorithms were implemented</a:t>
            </a:r>
            <a:r>
              <a:rPr lang="en-US" sz="1600" dirty="0" smtClean="0">
                <a:latin typeface="Times New Roman" pitchFamily="18" charset="0"/>
                <a:cs typeface="Times New Roman" pitchFamily="18" charset="0"/>
              </a:rPr>
              <a:t>: </a:t>
            </a:r>
          </a:p>
          <a:p>
            <a:pPr marL="177800"/>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     Linear </a:t>
            </a:r>
            <a:r>
              <a:rPr lang="en-US" sz="1600" dirty="0">
                <a:latin typeface="Times New Roman" pitchFamily="18" charset="0"/>
                <a:cs typeface="Times New Roman" pitchFamily="18" charset="0"/>
              </a:rPr>
              <a:t>Regression, Decision Tree </a:t>
            </a:r>
            <a:r>
              <a:rPr lang="en-US" sz="1600" dirty="0" smtClean="0">
                <a:latin typeface="Times New Roman" pitchFamily="18" charset="0"/>
                <a:cs typeface="Times New Roman" pitchFamily="18" charset="0"/>
              </a:rPr>
              <a:t>Regressor , </a:t>
            </a:r>
            <a:r>
              <a:rPr lang="en-US" sz="1600" dirty="0">
                <a:latin typeface="Times New Roman" pitchFamily="18" charset="0"/>
                <a:cs typeface="Times New Roman" pitchFamily="18" charset="0"/>
              </a:rPr>
              <a:t>Random Forest Regressor</a:t>
            </a:r>
          </a:p>
          <a:p>
            <a:pPr marL="177800"/>
            <a:endParaRPr lang="en-US" sz="1600" dirty="0" smtClean="0">
              <a:latin typeface="Times New Roman" pitchFamily="18" charset="0"/>
              <a:cs typeface="Times New Roman" pitchFamily="18" charset="0"/>
            </a:endParaRPr>
          </a:p>
          <a:p>
            <a:pPr marL="177800"/>
            <a:r>
              <a:rPr lang="en-US" sz="1600" dirty="0" smtClean="0">
                <a:latin typeface="Times New Roman" pitchFamily="18" charset="0"/>
                <a:cs typeface="Times New Roman" pitchFamily="18" charset="0"/>
              </a:rPr>
              <a:t>The </a:t>
            </a:r>
            <a:r>
              <a:rPr lang="en-US" sz="1600" dirty="0">
                <a:latin typeface="Times New Roman" pitchFamily="18" charset="0"/>
                <a:cs typeface="Times New Roman" pitchFamily="18" charset="0"/>
              </a:rPr>
              <a:t>target variable used in the model </a:t>
            </a:r>
            <a:r>
              <a:rPr lang="en-US" sz="1600" dirty="0" smtClean="0">
                <a:latin typeface="Times New Roman" pitchFamily="18" charset="0"/>
                <a:cs typeface="Times New Roman" pitchFamily="18" charset="0"/>
              </a:rPr>
              <a:t>is: </a:t>
            </a:r>
            <a:r>
              <a:rPr lang="en-US" sz="1600" b="1" dirty="0" smtClean="0">
                <a:latin typeface="Times New Roman" pitchFamily="18" charset="0"/>
                <a:cs typeface="Times New Roman" pitchFamily="18" charset="0"/>
              </a:rPr>
              <a:t>Life Expectancy</a:t>
            </a:r>
          </a:p>
          <a:p>
            <a:pPr marL="177800"/>
            <a:endParaRPr lang="en-US" sz="1600" dirty="0" smtClean="0">
              <a:latin typeface="Times New Roman" pitchFamily="18" charset="0"/>
              <a:cs typeface="Times New Roman" pitchFamily="18" charset="0"/>
            </a:endParaRPr>
          </a:p>
          <a:p>
            <a:pPr marL="804863" indent="-80963">
              <a:buFont typeface="Arial" pitchFamily="34" charset="0"/>
              <a:buChar char="•"/>
            </a:pPr>
            <a:r>
              <a:rPr lang="en-US" sz="1600" dirty="0">
                <a:latin typeface="Times New Roman" pitchFamily="18" charset="0"/>
                <a:cs typeface="Times New Roman" pitchFamily="18" charset="0"/>
              </a:rPr>
              <a:t> </a:t>
            </a:r>
            <a:r>
              <a:rPr lang="en-US" sz="1600" dirty="0" smtClean="0">
                <a:latin typeface="Times New Roman" pitchFamily="18" charset="0"/>
                <a:cs typeface="Times New Roman" pitchFamily="18" charset="0"/>
              </a:rPr>
              <a:t>Random </a:t>
            </a:r>
            <a:r>
              <a:rPr lang="en-US" sz="1600" dirty="0">
                <a:latin typeface="Times New Roman" pitchFamily="18" charset="0"/>
                <a:cs typeface="Times New Roman" pitchFamily="18" charset="0"/>
              </a:rPr>
              <a:t>Forest was selected as the primary model due to its higher accuracy and ability to handle complex, non-linear relationships between variables.</a:t>
            </a:r>
          </a:p>
        </p:txBody>
      </p:sp>
      <p:sp>
        <p:nvSpPr>
          <p:cNvPr id="7" name="TextBox 6"/>
          <p:cNvSpPr txBox="1"/>
          <p:nvPr/>
        </p:nvSpPr>
        <p:spPr>
          <a:xfrm>
            <a:off x="1280592" y="332656"/>
            <a:ext cx="6912768" cy="400110"/>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      9. MODEL  DEVELOPMENT</a:t>
            </a:r>
            <a:endParaRPr lang="en-US" sz="2000" b="1"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6696" y="3861048"/>
            <a:ext cx="5472608" cy="2520280"/>
          </a:xfrm>
          <a:prstGeom prst="rect">
            <a:avLst/>
          </a:prstGeom>
        </p:spPr>
      </p:pic>
    </p:spTree>
    <p:extLst>
      <p:ext uri="{BB962C8B-B14F-4D97-AF65-F5344CB8AC3E}">
        <p14:creationId xmlns:p14="http://schemas.microsoft.com/office/powerpoint/2010/main" val="214282984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24</a:t>
            </a:fld>
            <a:endParaRPr lang="en-IN" sz="1600" b="1" dirty="0"/>
          </a:p>
        </p:txBody>
      </p:sp>
      <p:sp>
        <p:nvSpPr>
          <p:cNvPr id="2" name="TextBox 1"/>
          <p:cNvSpPr txBox="1"/>
          <p:nvPr/>
        </p:nvSpPr>
        <p:spPr>
          <a:xfrm>
            <a:off x="560512" y="836712"/>
            <a:ext cx="8568952" cy="4647426"/>
          </a:xfrm>
          <a:prstGeom prst="rect">
            <a:avLst/>
          </a:prstGeom>
          <a:noFill/>
        </p:spPr>
        <p:txBody>
          <a:bodyPr wrap="square" rtlCol="0">
            <a:spAutoFit/>
          </a:bodyPr>
          <a:lstStyle/>
          <a:p>
            <a:r>
              <a:rPr lang="en-US" b="1" dirty="0">
                <a:latin typeface="Times New Roman" pitchFamily="18" charset="0"/>
                <a:cs typeface="Times New Roman" pitchFamily="18" charset="0"/>
              </a:rPr>
              <a:t>Data </a:t>
            </a:r>
            <a:r>
              <a:rPr lang="en-US" b="1" dirty="0" smtClean="0">
                <a:latin typeface="Times New Roman" pitchFamily="18" charset="0"/>
                <a:cs typeface="Times New Roman" pitchFamily="18" charset="0"/>
              </a:rPr>
              <a:t>Preparation</a:t>
            </a:r>
          </a:p>
          <a:p>
            <a:endParaRPr lang="en-US" sz="1600" b="1" dirty="0">
              <a:latin typeface="Times New Roman" pitchFamily="18" charset="0"/>
              <a:cs typeface="Times New Roman" pitchFamily="18" charset="0"/>
            </a:endParaRPr>
          </a:p>
          <a:p>
            <a:r>
              <a:rPr lang="en-US" sz="1600" dirty="0">
                <a:latin typeface="Times New Roman" pitchFamily="18" charset="0"/>
                <a:cs typeface="Times New Roman" pitchFamily="18" charset="0"/>
              </a:rPr>
              <a:t>• Independent variables (features) and dependent variable (Life Expectancy) were separated</a:t>
            </a:r>
            <a:r>
              <a:rPr lang="en-US"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r>
              <a:rPr lang="en-US" sz="1600" dirty="0">
                <a:latin typeface="Times New Roman" pitchFamily="18" charset="0"/>
                <a:cs typeface="Times New Roman" pitchFamily="18" charset="0"/>
              </a:rPr>
              <a:t>• Categorical variables such as Status were converted into numerical format using encoding.</a:t>
            </a:r>
          </a:p>
          <a:p>
            <a:endParaRPr lang="en-US"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Relevant features such as GDP, Schooling, Mortality, BMI, and Diseases were selected.</a:t>
            </a:r>
          </a:p>
          <a:p>
            <a:endParaRPr lang="en-US"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The dataset was divided into 80% training data and 20% testing data.</a:t>
            </a:r>
          </a:p>
          <a:p>
            <a:endParaRPr lang="en-US" b="1" dirty="0" smtClean="0">
              <a:latin typeface="Times New Roman" pitchFamily="18" charset="0"/>
              <a:cs typeface="Times New Roman" pitchFamily="18" charset="0"/>
            </a:endParaRPr>
          </a:p>
          <a:p>
            <a:endParaRPr lang="en-US" b="1" dirty="0">
              <a:latin typeface="Times New Roman" pitchFamily="18" charset="0"/>
              <a:cs typeface="Times New Roman" pitchFamily="18" charset="0"/>
            </a:endParaRPr>
          </a:p>
          <a:p>
            <a:r>
              <a:rPr lang="en-US" b="1" dirty="0" smtClean="0">
                <a:latin typeface="Times New Roman" pitchFamily="18" charset="0"/>
                <a:cs typeface="Times New Roman" pitchFamily="18" charset="0"/>
              </a:rPr>
              <a:t>Model </a:t>
            </a:r>
            <a:r>
              <a:rPr lang="en-US" b="1" dirty="0">
                <a:latin typeface="Times New Roman" pitchFamily="18" charset="0"/>
                <a:cs typeface="Times New Roman" pitchFamily="18" charset="0"/>
              </a:rPr>
              <a:t>Training</a:t>
            </a:r>
          </a:p>
          <a:p>
            <a:endParaRPr lang="en-US"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All models were trained using the prepared training dataset.</a:t>
            </a:r>
          </a:p>
          <a:p>
            <a:endParaRPr lang="en-US"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The models learned relationships between health, economic, and social factors and life expectancy.</a:t>
            </a:r>
          </a:p>
          <a:p>
            <a:endParaRPr lang="en-US"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The trained model predicts life expectancy for given input variables.</a:t>
            </a:r>
          </a:p>
        </p:txBody>
      </p:sp>
    </p:spTree>
    <p:extLst>
      <p:ext uri="{BB962C8B-B14F-4D97-AF65-F5344CB8AC3E}">
        <p14:creationId xmlns:p14="http://schemas.microsoft.com/office/powerpoint/2010/main" val="42563321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25</a:t>
            </a:fld>
            <a:endParaRPr lang="en-IN" sz="1600" b="1" dirty="0"/>
          </a:p>
        </p:txBody>
      </p:sp>
      <p:sp>
        <p:nvSpPr>
          <p:cNvPr id="2" name="TextBox 1"/>
          <p:cNvSpPr txBox="1"/>
          <p:nvPr/>
        </p:nvSpPr>
        <p:spPr>
          <a:xfrm>
            <a:off x="632520" y="3621211"/>
            <a:ext cx="8568952" cy="2616101"/>
          </a:xfrm>
          <a:prstGeom prst="rect">
            <a:avLst/>
          </a:prstGeom>
          <a:noFill/>
        </p:spPr>
        <p:txBody>
          <a:bodyPr wrap="square" rtlCol="0">
            <a:spAutoFit/>
          </a:bodyPr>
          <a:lstStyle/>
          <a:p>
            <a:r>
              <a:rPr lang="en-US" b="1" dirty="0" smtClean="0">
                <a:latin typeface="Times New Roman" pitchFamily="18" charset="0"/>
                <a:cs typeface="Times New Roman" pitchFamily="18" charset="0"/>
              </a:rPr>
              <a:t>Performance Interpretation</a:t>
            </a:r>
          </a:p>
          <a:p>
            <a:endParaRPr lang="en-US" b="1"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The model accurately predicts life expectancy based on selected features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Predicted values are close to actual values, indicating good model performance</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Random Forest performs better due to its ability to handle complex relationships</a:t>
            </a:r>
            <a:r>
              <a:rPr lang="en-US" sz="1600" dirty="0" smtClean="0">
                <a:latin typeface="Times New Roman" pitchFamily="18" charset="0"/>
                <a:cs typeface="Times New Roman" pitchFamily="18" charset="0"/>
              </a:rPr>
              <a:t>.</a:t>
            </a:r>
          </a:p>
          <a:p>
            <a:pPr marL="273050" indent="-95250"/>
            <a:endParaRPr lang="en-US" sz="1600" dirty="0">
              <a:latin typeface="Times New Roman" pitchFamily="18" charset="0"/>
              <a:cs typeface="Times New Roman" pitchFamily="18" charset="0"/>
            </a:endParaRPr>
          </a:p>
          <a:p>
            <a:pPr marL="273050" indent="-95250"/>
            <a:r>
              <a:rPr lang="en-US" sz="1600" dirty="0">
                <a:latin typeface="Times New Roman" pitchFamily="18" charset="0"/>
                <a:cs typeface="Times New Roman" pitchFamily="18" charset="0"/>
              </a:rPr>
              <a:t>• The model helps in understanding key factors affecting life expectancy and supports data-driven decisions.</a:t>
            </a:r>
          </a:p>
        </p:txBody>
      </p:sp>
      <p:sp>
        <p:nvSpPr>
          <p:cNvPr id="4" name="TextBox 3"/>
          <p:cNvSpPr txBox="1"/>
          <p:nvPr/>
        </p:nvSpPr>
        <p:spPr>
          <a:xfrm>
            <a:off x="1424608" y="332656"/>
            <a:ext cx="7128792" cy="400110"/>
          </a:xfrm>
          <a:prstGeom prst="rect">
            <a:avLst/>
          </a:prstGeom>
          <a:noFill/>
        </p:spPr>
        <p:txBody>
          <a:bodyPr wrap="square" rtlCol="0">
            <a:spAutoFit/>
          </a:bodyPr>
          <a:lstStyle/>
          <a:p>
            <a:r>
              <a:rPr lang="en-US" sz="2000" b="1" dirty="0" smtClean="0">
                <a:latin typeface="Times New Roman" pitchFamily="18" charset="0"/>
                <a:cs typeface="Times New Roman" pitchFamily="18" charset="0"/>
              </a:rPr>
              <a:t>10. MODEL  </a:t>
            </a:r>
            <a:r>
              <a:rPr lang="en-US" sz="2000" b="1" dirty="0">
                <a:latin typeface="Times New Roman" pitchFamily="18" charset="0"/>
                <a:cs typeface="Times New Roman" pitchFamily="18" charset="0"/>
              </a:rPr>
              <a:t>EVALUATION &amp; PERFORMANCE </a:t>
            </a:r>
            <a:r>
              <a:rPr lang="en-US" sz="2000" b="1" dirty="0" smtClean="0">
                <a:latin typeface="Times New Roman" pitchFamily="18" charset="0"/>
                <a:cs typeface="Times New Roman" pitchFamily="18" charset="0"/>
              </a:rPr>
              <a:t> ANALYSIS</a:t>
            </a:r>
            <a:endParaRPr lang="en-US" sz="2000" b="1" dirty="0">
              <a:latin typeface="Times New Roman" pitchFamily="18" charset="0"/>
              <a:cs typeface="Times New Roman" pitchFamily="18" charset="0"/>
            </a:endParaRPr>
          </a:p>
        </p:txBody>
      </p:sp>
      <p:sp>
        <p:nvSpPr>
          <p:cNvPr id="6" name="TextBox 5"/>
          <p:cNvSpPr txBox="1"/>
          <p:nvPr/>
        </p:nvSpPr>
        <p:spPr>
          <a:xfrm>
            <a:off x="501527" y="836712"/>
            <a:ext cx="8771953" cy="1661993"/>
          </a:xfrm>
          <a:prstGeom prst="rect">
            <a:avLst/>
          </a:prstGeom>
          <a:noFill/>
        </p:spPr>
        <p:txBody>
          <a:bodyPr wrap="none" rtlCol="0">
            <a:spAutoFit/>
          </a:bodyPr>
          <a:lstStyle/>
          <a:p>
            <a:r>
              <a:rPr lang="en-US" b="1" dirty="0">
                <a:latin typeface="Times New Roman" pitchFamily="18" charset="0"/>
                <a:cs typeface="Times New Roman" pitchFamily="18" charset="0"/>
              </a:rPr>
              <a:t>Model Performance</a:t>
            </a:r>
          </a:p>
          <a:p>
            <a:endParaRPr lang="en-US" b="1" dirty="0">
              <a:latin typeface="Times New Roman" pitchFamily="18" charset="0"/>
              <a:cs typeface="Times New Roman" pitchFamily="18" charset="0"/>
            </a:endParaRPr>
          </a:p>
          <a:p>
            <a:pPr marL="177800"/>
            <a:r>
              <a:rPr lang="en-US" sz="1600" dirty="0">
                <a:latin typeface="Times New Roman" pitchFamily="18" charset="0"/>
                <a:cs typeface="Times New Roman" pitchFamily="18" charset="0"/>
              </a:rPr>
              <a:t>The performance of the model was evaluated using the </a:t>
            </a:r>
            <a:r>
              <a:rPr lang="en-US" sz="1600" b="1" dirty="0">
                <a:latin typeface="Times New Roman" pitchFamily="18" charset="0"/>
                <a:cs typeface="Times New Roman" pitchFamily="18" charset="0"/>
              </a:rPr>
              <a:t>R² Score</a:t>
            </a:r>
            <a:r>
              <a:rPr lang="en-US" sz="1600" dirty="0">
                <a:latin typeface="Times New Roman" pitchFamily="18" charset="0"/>
                <a:cs typeface="Times New Roman" pitchFamily="18" charset="0"/>
              </a:rPr>
              <a:t>.</a:t>
            </a:r>
          </a:p>
          <a:p>
            <a:pPr marL="177800"/>
            <a:endParaRPr lang="en-US" sz="1600" dirty="0">
              <a:latin typeface="Times New Roman" pitchFamily="18" charset="0"/>
              <a:cs typeface="Times New Roman" pitchFamily="18" charset="0"/>
            </a:endParaRPr>
          </a:p>
          <a:p>
            <a:pPr marL="177800"/>
            <a:r>
              <a:rPr lang="en-US" sz="1600" dirty="0">
                <a:latin typeface="Times New Roman" pitchFamily="18" charset="0"/>
                <a:cs typeface="Times New Roman" pitchFamily="18" charset="0"/>
              </a:rPr>
              <a:t>Random Forest achieved an R² score of approximately </a:t>
            </a:r>
            <a:r>
              <a:rPr lang="en-US" sz="1600" b="1" dirty="0">
                <a:latin typeface="Times New Roman" pitchFamily="18" charset="0"/>
                <a:cs typeface="Times New Roman" pitchFamily="18" charset="0"/>
              </a:rPr>
              <a:t>0.95</a:t>
            </a:r>
            <a:r>
              <a:rPr lang="en-US" sz="1600" dirty="0">
                <a:latin typeface="Times New Roman" pitchFamily="18" charset="0"/>
                <a:cs typeface="Times New Roman" pitchFamily="18" charset="0"/>
              </a:rPr>
              <a:t>, indicating strong predictive performance.</a:t>
            </a:r>
          </a:p>
          <a:p>
            <a:endParaRPr lang="en-IN" sz="160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8664" y="2420888"/>
            <a:ext cx="3816424" cy="1190534"/>
          </a:xfrm>
          <a:prstGeom prst="rect">
            <a:avLst/>
          </a:prstGeom>
        </p:spPr>
      </p:pic>
    </p:spTree>
    <p:extLst>
      <p:ext uri="{BB962C8B-B14F-4D97-AF65-F5344CB8AC3E}">
        <p14:creationId xmlns:p14="http://schemas.microsoft.com/office/powerpoint/2010/main" val="28693116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26</a:t>
            </a:fld>
            <a:endParaRPr lang="en-IN" sz="1600" b="1" dirty="0"/>
          </a:p>
        </p:txBody>
      </p:sp>
      <p:sp>
        <p:nvSpPr>
          <p:cNvPr id="2" name="TextBox 1"/>
          <p:cNvSpPr txBox="1"/>
          <p:nvPr/>
        </p:nvSpPr>
        <p:spPr>
          <a:xfrm>
            <a:off x="560512" y="1260043"/>
            <a:ext cx="8568952" cy="4431983"/>
          </a:xfrm>
          <a:prstGeom prst="rect">
            <a:avLst/>
          </a:prstGeom>
          <a:noFill/>
        </p:spPr>
        <p:txBody>
          <a:bodyPr wrap="square" rtlCol="0">
            <a:spAutoFit/>
          </a:bodyPr>
          <a:lstStyle/>
          <a:p>
            <a:r>
              <a:rPr lang="en-IN" b="1" dirty="0">
                <a:latin typeface="Times New Roman" pitchFamily="18" charset="0"/>
                <a:cs typeface="Times New Roman" pitchFamily="18" charset="0"/>
              </a:rPr>
              <a:t>Model </a:t>
            </a:r>
            <a:r>
              <a:rPr lang="en-IN" b="1" dirty="0" smtClean="0">
                <a:latin typeface="Times New Roman" pitchFamily="18" charset="0"/>
                <a:cs typeface="Times New Roman" pitchFamily="18" charset="0"/>
              </a:rPr>
              <a:t>Comparison</a:t>
            </a:r>
          </a:p>
          <a:p>
            <a:endParaRPr lang="en-IN" b="1" dirty="0">
              <a:latin typeface="Times New Roman" pitchFamily="18" charset="0"/>
              <a:cs typeface="Times New Roman" pitchFamily="18" charset="0"/>
            </a:endParaRPr>
          </a:p>
          <a:p>
            <a:pPr marL="177800"/>
            <a:r>
              <a:rPr lang="en-IN" sz="1600" dirty="0">
                <a:latin typeface="Times New Roman" pitchFamily="18" charset="0"/>
                <a:cs typeface="Times New Roman" pitchFamily="18" charset="0"/>
              </a:rPr>
              <a:t>Different regression models were compared based on their predictive performance using the </a:t>
            </a:r>
            <a:r>
              <a:rPr lang="en-IN" sz="1600" b="1" dirty="0">
                <a:latin typeface="Times New Roman" pitchFamily="18" charset="0"/>
                <a:cs typeface="Times New Roman" pitchFamily="18" charset="0"/>
              </a:rPr>
              <a:t>R² Score</a:t>
            </a:r>
            <a:r>
              <a:rPr lang="en-IN" sz="1600" dirty="0" smtClean="0">
                <a:latin typeface="Times New Roman" pitchFamily="18" charset="0"/>
                <a:cs typeface="Times New Roman" pitchFamily="18" charset="0"/>
              </a:rPr>
              <a:t>.</a:t>
            </a:r>
          </a:p>
          <a:p>
            <a:pPr marL="177800"/>
            <a:endParaRPr lang="en-IN" sz="1600" dirty="0">
              <a:latin typeface="Times New Roman" pitchFamily="18" charset="0"/>
              <a:cs typeface="Times New Roman" pitchFamily="18" charset="0"/>
            </a:endParaRPr>
          </a:p>
          <a:p>
            <a:pPr marL="355600"/>
            <a:r>
              <a:rPr lang="en-IN" sz="1600" dirty="0">
                <a:latin typeface="Times New Roman" pitchFamily="18" charset="0"/>
                <a:cs typeface="Times New Roman" pitchFamily="18" charset="0"/>
              </a:rPr>
              <a:t>• Linear Regression – Basic performance (</a:t>
            </a:r>
            <a:r>
              <a:rPr lang="en-IN" sz="1600" b="1" dirty="0">
                <a:latin typeface="Times New Roman" pitchFamily="18" charset="0"/>
                <a:cs typeface="Times New Roman" pitchFamily="18" charset="0"/>
              </a:rPr>
              <a:t>R² ≈ 0.82</a:t>
            </a:r>
            <a:r>
              <a:rPr lang="en-IN" sz="1600" dirty="0">
                <a:latin typeface="Times New Roman" pitchFamily="18" charset="0"/>
                <a:cs typeface="Times New Roman" pitchFamily="18" charset="0"/>
              </a:rPr>
              <a:t>)</a:t>
            </a:r>
          </a:p>
          <a:p>
            <a:pPr marL="355600"/>
            <a:r>
              <a:rPr lang="en-IN" sz="1600" dirty="0">
                <a:latin typeface="Times New Roman" pitchFamily="18" charset="0"/>
                <a:cs typeface="Times New Roman" pitchFamily="18" charset="0"/>
              </a:rPr>
              <a:t>• KNN Regressor – Moderate performance (</a:t>
            </a:r>
            <a:r>
              <a:rPr lang="en-IN" sz="1600" b="1" dirty="0">
                <a:latin typeface="Times New Roman" pitchFamily="18" charset="0"/>
                <a:cs typeface="Times New Roman" pitchFamily="18" charset="0"/>
              </a:rPr>
              <a:t>R² ≈ 0.90</a:t>
            </a:r>
            <a:r>
              <a:rPr lang="en-IN" sz="1600" dirty="0">
                <a:latin typeface="Times New Roman" pitchFamily="18" charset="0"/>
                <a:cs typeface="Times New Roman" pitchFamily="18" charset="0"/>
              </a:rPr>
              <a:t>)</a:t>
            </a:r>
          </a:p>
          <a:p>
            <a:pPr marL="355600"/>
            <a:r>
              <a:rPr lang="en-IN" sz="1600" dirty="0">
                <a:latin typeface="Times New Roman" pitchFamily="18" charset="0"/>
                <a:cs typeface="Times New Roman" pitchFamily="18" charset="0"/>
              </a:rPr>
              <a:t>• Decision Tree Regressor – Good performance (</a:t>
            </a:r>
            <a:r>
              <a:rPr lang="en-IN" sz="1600" b="1" dirty="0">
                <a:latin typeface="Times New Roman" pitchFamily="18" charset="0"/>
                <a:cs typeface="Times New Roman" pitchFamily="18" charset="0"/>
              </a:rPr>
              <a:t>R² ≈ 0.91</a:t>
            </a:r>
            <a:r>
              <a:rPr lang="en-IN" sz="1600" dirty="0">
                <a:latin typeface="Times New Roman" pitchFamily="18" charset="0"/>
                <a:cs typeface="Times New Roman" pitchFamily="18" charset="0"/>
              </a:rPr>
              <a:t>)</a:t>
            </a:r>
          </a:p>
          <a:p>
            <a:pPr marL="355600"/>
            <a:r>
              <a:rPr lang="en-IN" sz="1600" dirty="0">
                <a:latin typeface="Times New Roman" pitchFamily="18" charset="0"/>
                <a:cs typeface="Times New Roman" pitchFamily="18" charset="0"/>
              </a:rPr>
              <a:t>• SVR – Moderate performance (</a:t>
            </a:r>
            <a:r>
              <a:rPr lang="en-IN" sz="1600" b="1" dirty="0">
                <a:latin typeface="Times New Roman" pitchFamily="18" charset="0"/>
                <a:cs typeface="Times New Roman" pitchFamily="18" charset="0"/>
              </a:rPr>
              <a:t>R² ≈ 0.87</a:t>
            </a:r>
            <a:r>
              <a:rPr lang="en-IN" sz="1600" dirty="0">
                <a:latin typeface="Times New Roman" pitchFamily="18" charset="0"/>
                <a:cs typeface="Times New Roman" pitchFamily="18" charset="0"/>
              </a:rPr>
              <a:t>)</a:t>
            </a:r>
          </a:p>
          <a:p>
            <a:pPr marL="355600"/>
            <a:r>
              <a:rPr lang="en-IN" sz="1600" dirty="0">
                <a:latin typeface="Times New Roman" pitchFamily="18" charset="0"/>
                <a:cs typeface="Times New Roman" pitchFamily="18" charset="0"/>
              </a:rPr>
              <a:t>• Random Forest Regressor – Highest performance (</a:t>
            </a:r>
            <a:r>
              <a:rPr lang="en-IN" sz="1600" b="1" dirty="0">
                <a:latin typeface="Times New Roman" pitchFamily="18" charset="0"/>
                <a:cs typeface="Times New Roman" pitchFamily="18" charset="0"/>
              </a:rPr>
              <a:t>R² ≈ 0.95</a:t>
            </a:r>
            <a:r>
              <a:rPr lang="en-IN" sz="1600" dirty="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r>
              <a:rPr lang="en-US" b="1" dirty="0">
                <a:latin typeface="Times New Roman" pitchFamily="18" charset="0"/>
                <a:cs typeface="Times New Roman" pitchFamily="18" charset="0"/>
              </a:rPr>
              <a:t>Final Model </a:t>
            </a:r>
            <a:r>
              <a:rPr lang="en-US" b="1" dirty="0" smtClean="0">
                <a:latin typeface="Times New Roman" pitchFamily="18" charset="0"/>
                <a:cs typeface="Times New Roman" pitchFamily="18" charset="0"/>
              </a:rPr>
              <a:t>Selection</a:t>
            </a:r>
          </a:p>
          <a:p>
            <a:endParaRPr lang="en-US" b="1" dirty="0">
              <a:latin typeface="Times New Roman" pitchFamily="18" charset="0"/>
              <a:cs typeface="Times New Roman" pitchFamily="18" charset="0"/>
            </a:endParaRPr>
          </a:p>
          <a:p>
            <a:pPr indent="355600"/>
            <a:r>
              <a:rPr lang="en-US" sz="1600" dirty="0">
                <a:latin typeface="Times New Roman" pitchFamily="18" charset="0"/>
                <a:cs typeface="Times New Roman" pitchFamily="18" charset="0"/>
              </a:rPr>
              <a:t>• Random Forest Regressor was selected as the final model.</a:t>
            </a:r>
          </a:p>
          <a:p>
            <a:pPr indent="355600"/>
            <a:r>
              <a:rPr lang="en-US" sz="1600" dirty="0">
                <a:latin typeface="Times New Roman" pitchFamily="18" charset="0"/>
                <a:cs typeface="Times New Roman" pitchFamily="18" charset="0"/>
              </a:rPr>
              <a:t>• It achieved the highest R² score among all models.</a:t>
            </a:r>
          </a:p>
          <a:p>
            <a:pPr indent="355600"/>
            <a:r>
              <a:rPr lang="en-US" sz="1600" dirty="0">
                <a:latin typeface="Times New Roman" pitchFamily="18" charset="0"/>
                <a:cs typeface="Times New Roman" pitchFamily="18" charset="0"/>
              </a:rPr>
              <a:t>• It effectively handles complex and non-linear relationships between variables.</a:t>
            </a:r>
          </a:p>
          <a:p>
            <a:pPr indent="355600"/>
            <a:r>
              <a:rPr lang="en-US" sz="1600" dirty="0">
                <a:latin typeface="Times New Roman" pitchFamily="18" charset="0"/>
                <a:cs typeface="Times New Roman" pitchFamily="18" charset="0"/>
              </a:rPr>
              <a:t>• It provides more accurate and reliable predictions compared to other models</a:t>
            </a:r>
            <a:r>
              <a:rPr lang="en-US" dirty="0">
                <a:latin typeface="Times New Roman" pitchFamily="18" charset="0"/>
                <a:cs typeface="Times New Roman" pitchFamily="18" charset="0"/>
              </a:rPr>
              <a:t>.</a:t>
            </a:r>
          </a:p>
        </p:txBody>
      </p:sp>
      <p:sp>
        <p:nvSpPr>
          <p:cNvPr id="4" name="TextBox 3"/>
          <p:cNvSpPr txBox="1"/>
          <p:nvPr/>
        </p:nvSpPr>
        <p:spPr>
          <a:xfrm>
            <a:off x="1640632" y="436602"/>
            <a:ext cx="6696744" cy="400110"/>
          </a:xfrm>
          <a:prstGeom prst="rect">
            <a:avLst/>
          </a:prstGeom>
          <a:noFill/>
        </p:spPr>
        <p:txBody>
          <a:bodyPr wrap="square" rtlCol="0">
            <a:spAutoFit/>
          </a:bodyPr>
          <a:lstStyle/>
          <a:p>
            <a:pPr algn="ctr"/>
            <a:r>
              <a:rPr lang="en-IN" sz="2000" b="1" dirty="0" smtClean="0">
                <a:latin typeface="Times New Roman" pitchFamily="18" charset="0"/>
                <a:cs typeface="Times New Roman" pitchFamily="18" charset="0"/>
              </a:rPr>
              <a:t>11. MODEL </a:t>
            </a:r>
            <a:r>
              <a:rPr lang="en-IN" sz="2000" b="1" dirty="0">
                <a:latin typeface="Times New Roman" pitchFamily="18" charset="0"/>
                <a:cs typeface="Times New Roman" pitchFamily="18" charset="0"/>
              </a:rPr>
              <a:t>COMPARISON &amp; SELECTION</a:t>
            </a:r>
            <a:endParaRPr lang="en-US" sz="2000" b="1" dirty="0">
              <a:latin typeface="Times New Roman" pitchFamily="18" charset="0"/>
              <a:cs typeface="Times New Roman" pitchFamily="18" charset="0"/>
            </a:endParaRPr>
          </a:p>
        </p:txBody>
      </p:sp>
    </p:spTree>
    <p:extLst>
      <p:ext uri="{BB962C8B-B14F-4D97-AF65-F5344CB8AC3E}">
        <p14:creationId xmlns:p14="http://schemas.microsoft.com/office/powerpoint/2010/main" val="112839096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27</a:t>
            </a:fld>
            <a:endParaRPr lang="en-IN" sz="1600" b="1" dirty="0"/>
          </a:p>
        </p:txBody>
      </p:sp>
      <p:sp>
        <p:nvSpPr>
          <p:cNvPr id="4" name="TextBox 3"/>
          <p:cNvSpPr txBox="1"/>
          <p:nvPr/>
        </p:nvSpPr>
        <p:spPr>
          <a:xfrm>
            <a:off x="1640632" y="332656"/>
            <a:ext cx="6696744" cy="400110"/>
          </a:xfrm>
          <a:prstGeom prst="rect">
            <a:avLst/>
          </a:prstGeom>
          <a:noFill/>
        </p:spPr>
        <p:txBody>
          <a:bodyPr wrap="square" rtlCol="0">
            <a:spAutoFit/>
          </a:bodyPr>
          <a:lstStyle/>
          <a:p>
            <a:pPr algn="ctr"/>
            <a:r>
              <a:rPr lang="en-US" sz="2000" b="1" dirty="0" smtClean="0">
                <a:latin typeface="Times New Roman" pitchFamily="18" charset="0"/>
                <a:cs typeface="Times New Roman" pitchFamily="18" charset="0"/>
              </a:rPr>
              <a:t>12. Dashboard </a:t>
            </a:r>
            <a:r>
              <a:rPr lang="en-US" sz="2000" b="1" dirty="0">
                <a:latin typeface="Times New Roman" pitchFamily="18" charset="0"/>
                <a:cs typeface="Times New Roman" pitchFamily="18" charset="0"/>
              </a:rPr>
              <a:t>Development &amp; Visualization</a:t>
            </a:r>
            <a:endParaRPr lang="en-US" sz="2000" b="1" dirty="0">
              <a:latin typeface="Times New Roman" pitchFamily="18" charset="0"/>
              <a:cs typeface="Times New Roman" pitchFamily="18" charset="0"/>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4772" y="962801"/>
            <a:ext cx="8770716" cy="4914471"/>
          </a:xfrm>
          <a:prstGeom prst="rect">
            <a:avLst/>
          </a:prstGeom>
        </p:spPr>
      </p:pic>
    </p:spTree>
    <p:extLst>
      <p:ext uri="{BB962C8B-B14F-4D97-AF65-F5344CB8AC3E}">
        <p14:creationId xmlns:p14="http://schemas.microsoft.com/office/powerpoint/2010/main" val="29005277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28</a:t>
            </a:fld>
            <a:endParaRPr lang="en-IN" sz="1600" b="1"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655" y="962801"/>
            <a:ext cx="8668949" cy="4914471"/>
          </a:xfrm>
          <a:prstGeom prst="rect">
            <a:avLst/>
          </a:prstGeom>
        </p:spPr>
      </p:pic>
    </p:spTree>
    <p:extLst>
      <p:ext uri="{BB962C8B-B14F-4D97-AF65-F5344CB8AC3E}">
        <p14:creationId xmlns:p14="http://schemas.microsoft.com/office/powerpoint/2010/main" val="140746656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29</a:t>
            </a:fld>
            <a:endParaRPr lang="en-IN" sz="1600" b="1" dirty="0"/>
          </a:p>
        </p:txBody>
      </p:sp>
      <p:sp>
        <p:nvSpPr>
          <p:cNvPr id="2" name="TextBox 1"/>
          <p:cNvSpPr txBox="1"/>
          <p:nvPr/>
        </p:nvSpPr>
        <p:spPr>
          <a:xfrm>
            <a:off x="2000672" y="476672"/>
            <a:ext cx="6048672" cy="400110"/>
          </a:xfrm>
          <a:prstGeom prst="rect">
            <a:avLst/>
          </a:prstGeom>
          <a:noFill/>
        </p:spPr>
        <p:txBody>
          <a:bodyPr wrap="square" rtlCol="0">
            <a:spAutoFit/>
          </a:bodyPr>
          <a:lstStyle/>
          <a:p>
            <a:pPr algn="ctr"/>
            <a:r>
              <a:rPr lang="en-US" sz="2000" b="1" dirty="0">
                <a:latin typeface="Times New Roman" pitchFamily="18" charset="0"/>
                <a:cs typeface="Times New Roman" pitchFamily="18" charset="0"/>
              </a:rPr>
              <a:t>13. Conclusion &amp; Recommendations</a:t>
            </a:r>
            <a:endParaRPr lang="en-IN" sz="2000" b="1" dirty="0">
              <a:effectLst/>
              <a:latin typeface="Times New Roman" pitchFamily="18" charset="0"/>
              <a:cs typeface="Times New Roman" pitchFamily="18" charset="0"/>
            </a:endParaRPr>
          </a:p>
        </p:txBody>
      </p:sp>
      <p:sp>
        <p:nvSpPr>
          <p:cNvPr id="16" name="TextBox 15"/>
          <p:cNvSpPr txBox="1"/>
          <p:nvPr/>
        </p:nvSpPr>
        <p:spPr>
          <a:xfrm>
            <a:off x="560514" y="1124744"/>
            <a:ext cx="8712966" cy="5016758"/>
          </a:xfrm>
          <a:prstGeom prst="rect">
            <a:avLst/>
          </a:prstGeom>
          <a:noFill/>
        </p:spPr>
        <p:txBody>
          <a:bodyPr wrap="square" rtlCol="0">
            <a:spAutoFit/>
          </a:bodyPr>
          <a:lstStyle/>
          <a:p>
            <a:r>
              <a:rPr lang="en-US" sz="1600" b="1" dirty="0" smtClean="0">
                <a:latin typeface="Times New Roman" pitchFamily="18" charset="0"/>
                <a:cs typeface="Times New Roman" pitchFamily="18" charset="0"/>
              </a:rPr>
              <a:t>CONCLUSION</a:t>
            </a:r>
          </a:p>
          <a:p>
            <a:endParaRPr lang="en-US" sz="1600" b="1" dirty="0">
              <a:latin typeface="Times New Roman" pitchFamily="18" charset="0"/>
              <a:cs typeface="Times New Roman" pitchFamily="18" charset="0"/>
            </a:endParaRPr>
          </a:p>
          <a:p>
            <a:pPr marL="95250"/>
            <a:r>
              <a:rPr lang="en-US" sz="1600" dirty="0">
                <a:latin typeface="Times New Roman" pitchFamily="18" charset="0"/>
                <a:cs typeface="Times New Roman" pitchFamily="18" charset="0"/>
              </a:rPr>
              <a:t>The project focused on analyzing life expectancy across countries using machine learning and data visualization techniques. The dataset included various economic, health, and social indicators such as GDP, schooling, mortality, and disease factors</a:t>
            </a:r>
            <a:r>
              <a:rPr lang="en-US" sz="1600" dirty="0" smtClean="0">
                <a:latin typeface="Times New Roman" pitchFamily="18" charset="0"/>
                <a:cs typeface="Times New Roman" pitchFamily="18" charset="0"/>
              </a:rPr>
              <a:t>.</a:t>
            </a:r>
          </a:p>
          <a:p>
            <a:pPr marL="95250"/>
            <a:endParaRPr lang="en-US" sz="1600" dirty="0">
              <a:latin typeface="Times New Roman" pitchFamily="18" charset="0"/>
              <a:cs typeface="Times New Roman" pitchFamily="18" charset="0"/>
            </a:endParaRPr>
          </a:p>
          <a:p>
            <a:pPr marL="95250"/>
            <a:r>
              <a:rPr lang="en-US" sz="1600" dirty="0">
                <a:latin typeface="Times New Roman" pitchFamily="18" charset="0"/>
                <a:cs typeface="Times New Roman" pitchFamily="18" charset="0"/>
              </a:rPr>
              <a:t>After data preprocessing and analysis, it was observed that life expectancy is strongly influenced by factors like GDP, education level, and healthcare conditions. Countries with better economic status and higher education levels tend to have higher life expectancy, while high mortality rates and diseases such as HIV/AIDS negatively impact lifespan</a:t>
            </a:r>
            <a:r>
              <a:rPr lang="en-US" sz="1600" dirty="0" smtClean="0">
                <a:latin typeface="Times New Roman" pitchFamily="18" charset="0"/>
                <a:cs typeface="Times New Roman" pitchFamily="18" charset="0"/>
              </a:rPr>
              <a:t>.</a:t>
            </a:r>
          </a:p>
          <a:p>
            <a:pPr marL="95250"/>
            <a:endParaRPr lang="en-US" sz="1600" dirty="0">
              <a:latin typeface="Times New Roman" pitchFamily="18" charset="0"/>
              <a:cs typeface="Times New Roman" pitchFamily="18" charset="0"/>
            </a:endParaRPr>
          </a:p>
          <a:p>
            <a:pPr marL="95250"/>
            <a:r>
              <a:rPr lang="en-US" sz="1600" dirty="0">
                <a:latin typeface="Times New Roman" pitchFamily="18" charset="0"/>
                <a:cs typeface="Times New Roman" pitchFamily="18" charset="0"/>
              </a:rPr>
              <a:t>Different machine learning models were implemented and compared, and the Random Forest model achieved the best performance with a high R² score. The model was able to accurately predict life expectancy based on input features</a:t>
            </a:r>
            <a:r>
              <a:rPr lang="en-US" sz="1600" dirty="0" smtClean="0">
                <a:latin typeface="Times New Roman" pitchFamily="18" charset="0"/>
                <a:cs typeface="Times New Roman" pitchFamily="18" charset="0"/>
              </a:rPr>
              <a:t>.</a:t>
            </a:r>
          </a:p>
          <a:p>
            <a:pPr marL="95250"/>
            <a:endParaRPr lang="en-US" sz="1600" dirty="0">
              <a:latin typeface="Times New Roman" pitchFamily="18" charset="0"/>
              <a:cs typeface="Times New Roman" pitchFamily="18" charset="0"/>
            </a:endParaRPr>
          </a:p>
          <a:p>
            <a:pPr marL="95250"/>
            <a:r>
              <a:rPr lang="en-US" sz="1600" dirty="0">
                <a:latin typeface="Times New Roman" pitchFamily="18" charset="0"/>
                <a:cs typeface="Times New Roman" pitchFamily="18" charset="0"/>
              </a:rPr>
              <a:t>A Power BI dashboard was developed to visualize trends, comparisons, and key insights. The dashboard helps in understanding patterns across countries and supports data-driven decision-making</a:t>
            </a:r>
            <a:r>
              <a:rPr lang="en-US" sz="1600" dirty="0" smtClean="0">
                <a:latin typeface="Times New Roman" pitchFamily="18" charset="0"/>
                <a:cs typeface="Times New Roman" pitchFamily="18" charset="0"/>
              </a:rPr>
              <a:t>.</a:t>
            </a:r>
          </a:p>
          <a:p>
            <a:pPr marL="95250"/>
            <a:endParaRPr lang="en-US" sz="1600" dirty="0">
              <a:latin typeface="Times New Roman" pitchFamily="18" charset="0"/>
              <a:cs typeface="Times New Roman" pitchFamily="18" charset="0"/>
            </a:endParaRPr>
          </a:p>
          <a:p>
            <a:pPr marL="95250"/>
            <a:r>
              <a:rPr lang="en-US" sz="1600" dirty="0">
                <a:latin typeface="Times New Roman" pitchFamily="18" charset="0"/>
                <a:cs typeface="Times New Roman" pitchFamily="18" charset="0"/>
              </a:rPr>
              <a:t>Overall, the project demonstrates that data analytics and machine learning can effectively help in understanding and predicting life expectancy and identifying key factors that influence it</a:t>
            </a:r>
            <a:r>
              <a:rPr lang="en-US" sz="1600" dirty="0" smtClean="0">
                <a:latin typeface="Times New Roman" pitchFamily="18" charset="0"/>
                <a:cs typeface="Times New Roman" pitchFamily="18" charset="0"/>
              </a:rPr>
              <a:t>.</a:t>
            </a:r>
            <a:endParaRPr lang="en-US" sz="1600" dirty="0">
              <a:latin typeface="Times New Roman" pitchFamily="18" charset="0"/>
              <a:cs typeface="Times New Roman" pitchFamily="18" charset="0"/>
            </a:endParaRPr>
          </a:p>
        </p:txBody>
      </p:sp>
    </p:spTree>
    <p:extLst>
      <p:ext uri="{BB962C8B-B14F-4D97-AF65-F5344CB8AC3E}">
        <p14:creationId xmlns:p14="http://schemas.microsoft.com/office/powerpoint/2010/main" val="19748574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6497" y="238492"/>
            <a:ext cx="9001000" cy="6331165"/>
          </a:xfrm>
          <a:prstGeom prst="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Slide Number Placeholder 2"/>
          <p:cNvSpPr>
            <a:spLocks noGrp="1"/>
          </p:cNvSpPr>
          <p:nvPr>
            <p:ph type="sldNum" sz="quarter" idx="12"/>
          </p:nvPr>
        </p:nvSpPr>
        <p:spPr>
          <a:xfrm>
            <a:off x="3944888" y="6237312"/>
            <a:ext cx="2311400" cy="365124"/>
          </a:xfrm>
        </p:spPr>
        <p:txBody>
          <a:bodyPr/>
          <a:lstStyle/>
          <a:p>
            <a:pPr algn="ctr"/>
            <a:fld id="{B3AF4A1C-8513-48CB-AFA7-617B2A2B69B2}" type="slidenum">
              <a:rPr lang="en-IN" sz="1600" b="1" smtClean="0"/>
              <a:pPr algn="ctr"/>
              <a:t>30</a:t>
            </a:fld>
            <a:endParaRPr lang="en-IN" sz="1600" b="1" dirty="0"/>
          </a:p>
        </p:txBody>
      </p:sp>
      <p:sp>
        <p:nvSpPr>
          <p:cNvPr id="16" name="TextBox 15"/>
          <p:cNvSpPr txBox="1"/>
          <p:nvPr/>
        </p:nvSpPr>
        <p:spPr>
          <a:xfrm>
            <a:off x="560514" y="1124744"/>
            <a:ext cx="8712966" cy="3077766"/>
          </a:xfrm>
          <a:prstGeom prst="rect">
            <a:avLst/>
          </a:prstGeom>
          <a:noFill/>
        </p:spPr>
        <p:txBody>
          <a:bodyPr wrap="square" rtlCol="0">
            <a:spAutoFit/>
          </a:bodyPr>
          <a:lstStyle/>
          <a:p>
            <a:r>
              <a:rPr lang="en-US" b="1" dirty="0" smtClean="0">
                <a:latin typeface="Times New Roman" pitchFamily="18" charset="0"/>
                <a:cs typeface="Times New Roman" pitchFamily="18" charset="0"/>
              </a:rPr>
              <a:t>RECOMMENDATIONS</a:t>
            </a:r>
            <a:endParaRPr lang="en-US" b="1" dirty="0">
              <a:latin typeface="Times New Roman" pitchFamily="18" charset="0"/>
              <a:cs typeface="Times New Roman" pitchFamily="18" charset="0"/>
            </a:endParaRPr>
          </a:p>
          <a:p>
            <a:pPr indent="273050"/>
            <a:r>
              <a:rPr lang="en-US" sz="1600" dirty="0">
                <a:latin typeface="Times New Roman" pitchFamily="18" charset="0"/>
                <a:cs typeface="Times New Roman" pitchFamily="18" charset="0"/>
              </a:rPr>
              <a:t>• Increase healthcare investment to improve life expectancy and reduce mortality rates</a:t>
            </a:r>
            <a:r>
              <a:rPr lang="en-US" sz="1600" dirty="0" smtClean="0">
                <a:latin typeface="Times New Roman" pitchFamily="18" charset="0"/>
                <a:cs typeface="Times New Roman" pitchFamily="18" charset="0"/>
              </a:rPr>
              <a:t>.</a:t>
            </a:r>
          </a:p>
          <a:p>
            <a:pPr indent="273050"/>
            <a:endParaRPr lang="en-US" sz="1600" dirty="0">
              <a:latin typeface="Times New Roman" pitchFamily="18" charset="0"/>
              <a:cs typeface="Times New Roman" pitchFamily="18" charset="0"/>
            </a:endParaRPr>
          </a:p>
          <a:p>
            <a:pPr indent="273050"/>
            <a:r>
              <a:rPr lang="en-US" sz="1600" dirty="0">
                <a:latin typeface="Times New Roman" pitchFamily="18" charset="0"/>
                <a:cs typeface="Times New Roman" pitchFamily="18" charset="0"/>
              </a:rPr>
              <a:t>• Strengthen vaccination programs (Polio, Diphtheria) to prevent diseases.</a:t>
            </a:r>
          </a:p>
          <a:p>
            <a:pPr indent="273050"/>
            <a:endParaRPr lang="en-US" sz="1600" dirty="0" smtClean="0">
              <a:latin typeface="Times New Roman" pitchFamily="18" charset="0"/>
              <a:cs typeface="Times New Roman" pitchFamily="18" charset="0"/>
            </a:endParaRPr>
          </a:p>
          <a:p>
            <a:pPr indent="273050"/>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Improve access to education, as schooling has a strong impact on lifespan.</a:t>
            </a:r>
          </a:p>
          <a:p>
            <a:pPr indent="273050"/>
            <a:endParaRPr lang="en-US" sz="1600" dirty="0" smtClean="0">
              <a:latin typeface="Times New Roman" pitchFamily="18" charset="0"/>
              <a:cs typeface="Times New Roman" pitchFamily="18" charset="0"/>
            </a:endParaRPr>
          </a:p>
          <a:p>
            <a:pPr indent="273050"/>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Focus on economic growth (GDP) to enhance living standards and healthcare quality.</a:t>
            </a:r>
          </a:p>
          <a:p>
            <a:pPr indent="273050"/>
            <a:endParaRPr lang="en-US" sz="1600" dirty="0" smtClean="0">
              <a:latin typeface="Times New Roman" pitchFamily="18" charset="0"/>
              <a:cs typeface="Times New Roman" pitchFamily="18" charset="0"/>
            </a:endParaRPr>
          </a:p>
          <a:p>
            <a:pPr indent="273050"/>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Implement awareness programs to reduce the impact of diseases like HIV/AIDS.</a:t>
            </a:r>
          </a:p>
          <a:p>
            <a:pPr indent="273050"/>
            <a:endParaRPr lang="en-US" sz="1600" dirty="0" smtClean="0">
              <a:latin typeface="Times New Roman" pitchFamily="18" charset="0"/>
              <a:cs typeface="Times New Roman" pitchFamily="18" charset="0"/>
            </a:endParaRPr>
          </a:p>
          <a:p>
            <a:pPr indent="273050"/>
            <a:r>
              <a:rPr lang="en-US" sz="1600" dirty="0" smtClean="0">
                <a:latin typeface="Times New Roman" pitchFamily="18" charset="0"/>
                <a:cs typeface="Times New Roman" pitchFamily="18" charset="0"/>
              </a:rPr>
              <a:t>• </a:t>
            </a:r>
            <a:r>
              <a:rPr lang="en-US" sz="1600" dirty="0">
                <a:latin typeface="Times New Roman" pitchFamily="18" charset="0"/>
                <a:cs typeface="Times New Roman" pitchFamily="18" charset="0"/>
              </a:rPr>
              <a:t>Use data-driven approaches for policy planning and decision-making.</a:t>
            </a:r>
          </a:p>
        </p:txBody>
      </p:sp>
    </p:spTree>
    <p:extLst>
      <p:ext uri="{BB962C8B-B14F-4D97-AF65-F5344CB8AC3E}">
        <p14:creationId xmlns:p14="http://schemas.microsoft.com/office/powerpoint/2010/main" val="42021790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1116</TotalTime>
  <Words>2911</Words>
  <Application>Microsoft Office PowerPoint</Application>
  <PresentationFormat>A4 Paper (210x297 mm)</PresentationFormat>
  <Paragraphs>365</Paragraphs>
  <Slides>30</Slides>
  <Notes>1</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Global Life Expectancy Analysis  using Machine Learning and Power BI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83</cp:revision>
  <dcterms:created xsi:type="dcterms:W3CDTF">2026-04-04T12:58:23Z</dcterms:created>
  <dcterms:modified xsi:type="dcterms:W3CDTF">2026-04-07T06:52:21Z</dcterms:modified>
</cp:coreProperties>
</file>